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l_slide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70b16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c853"/>
              </a:gs>
              <a:gs pos="100000">
                <a:srgbClr val="008bff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640080"/>
            <a:ext cx="9994392" cy="3200400"/>
          </a:xfrm>
          <a:prstGeom prst="rect">
            <a:avLst/>
          </a:prstGeom>
          <a:ln>
            <a:noFill/>
          </a:ln>
          <a:solidFill>
            <a:srgbClr val="0f162a">
              <a:alpha val="8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40080"/>
            <a:ext cx="9994392" cy="3200400"/>
          </a:xfrm>
          <a:prstGeom prst="rect">
            <a:avLst/>
          </a:prstGeom>
          <a:noFill/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822960"/>
            <a:ext cx="9445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Why Bangladesh Premier League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853"/>
                </a:solidFill>
                <a:latin typeface="Segoe UI"/>
              </a:rPr>
              <a:t>Fails to Attract Urban Youth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395728"/>
            <a:ext cx="5788152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c853"/>
              </a:gs>
              <a:gs pos="100000">
                <a:srgbClr val="008bff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51460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D6E8"/>
                </a:solidFill>
                <a:latin typeface="Segoe UI"/>
              </a:rPr>
              <a:t>A Research Presentation on BPL Fan Engagement &amp; Youth Disconnect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3904" y="3154680"/>
            <a:ext cx="4572000" cy="548640"/>
          </a:xfrm>
          <a:prstGeom prst="rect">
            <a:avLst/>
          </a:prstGeom>
          <a:solidFill>
            <a:srgbClr val="005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3904" y="3154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Batch 232  —  Textile Department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5029200" cy="2468880"/>
          </a:xfrm>
          <a:prstGeom prst="rect">
            <a:avLst/>
          </a:prstGeom>
          <a:ln>
            <a:noFill/>
          </a:ln>
          <a:solidFill>
            <a:srgbClr val="0f162a">
              <a:alpha val="9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5029200" cy="2468880"/>
          </a:xfrm>
          <a:prstGeom prst="rect">
            <a:avLst/>
          </a:prstGeom>
          <a:noFill/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FF"/>
                </a:solidFill>
                <a:latin typeface="Segoe UI"/>
              </a:rPr>
              <a:t>PRESENTED BY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11274552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◆  2230800230  —  Mahmudul Hasan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103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◆  2230800231  —  Md. Rahat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486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◆  2230800232  —  Md. Rifat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◆  2230800233  —  Md. Tanvir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◆  2230800234  —  Md. Towhid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977639"/>
            <a:ext cx="5029200" cy="2468880"/>
          </a:xfrm>
          <a:prstGeom prst="rect">
            <a:avLst/>
          </a:prstGeom>
          <a:ln>
            <a:noFill/>
          </a:ln>
          <a:solidFill>
            <a:srgbClr val="0f162a">
              <a:alpha val="8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3977639"/>
            <a:ext cx="5029200" cy="2468880"/>
          </a:xfrm>
          <a:prstGeom prst="rect">
            <a:avLst/>
          </a:prstGeom>
          <a:noFill/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069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Segoe UI"/>
              </a:rPr>
              <a:t>TOPIC OVERVIEW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80560"/>
            <a:ext cx="11274552" cy="36576"/>
          </a:xfrm>
          <a:prstGeom prst="rect">
            <a:avLst/>
          </a:prstGeom>
          <a:solidFill>
            <a:srgbClr val="33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572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⚽  BPL Fan Engagement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910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📊  Statistical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2486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🎯  Root Causes &amp;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58698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💡  Actionable 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925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🏆  Vision for BPL's Future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11" fill="hold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13" dur="600" fill="hold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" fill="hold">
                        <p:stCondLst>
                          <p:cond delay="200"/>
                        </p:stCondLst>
                        <p:childTnLst>
                          <p:par>
                            <p:cTn id="15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16" dur="600" fill="hold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" fill="hold">
                        <p:stCondLst>
                          <p:cond delay="350"/>
                        </p:stCondLst>
                        <p:childTnLst>
                          <p:par>
                            <p:cTn id="18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19" dur="600" fill="hold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THE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Bangladesh Loves Football ❤️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1298448"/>
            <a:ext cx="3657600" cy="548640"/>
          </a:xfrm>
          <a:prstGeom prst="rect">
            <a:avLst/>
          </a:prstGeom>
          <a:solidFill>
            <a:srgbClr val="3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4" y="12984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700"/>
                </a:solidFill>
                <a:latin typeface="Segoe UI"/>
              </a:rPr>
              <a:t>B U T . .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9202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1744"/>
                </a:solidFill>
                <a:latin typeface="Segoe UI"/>
              </a:rPr>
              <a:t>Bangladesh Doesn't Watch Local Football 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97480"/>
            <a:ext cx="11274552" cy="36576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834640"/>
            <a:ext cx="5394960" cy="34747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31a0a"/>
              </a:gs>
              <a:gs pos="100000">
                <a:srgbClr val="0f162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834640"/>
            <a:ext cx="5394960" cy="3474720"/>
          </a:xfrm>
          <a:prstGeom prst="rect">
            <a:avLst/>
          </a:prstGeom>
          <a:noFill/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077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53"/>
                </a:solidFill>
                <a:latin typeface="Segoe UI"/>
              </a:rPr>
              <a:t>🌍  European Football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10712"/>
            <a:ext cx="11274552" cy="36576"/>
          </a:xfrm>
          <a:prstGeom prst="rect">
            <a:avLst/>
          </a:prstGeom>
          <a:solidFill>
            <a:srgbClr val="083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49300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✔  Millions of Bangladeshi Fans watching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9592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✔  Enormous Social Media Buzz daily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98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✔  Packed stadiums &amp; electric atmosphere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017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✔  Global superstars &amp; brand power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046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✔  High-quality TV production &amp; coverage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834640"/>
            <a:ext cx="5394960" cy="34747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a0303"/>
              </a:gs>
              <a:gs pos="100000">
                <a:srgbClr val="0f162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2834640"/>
            <a:ext cx="5394960" cy="3474720"/>
          </a:xfrm>
          <a:prstGeom prst="rect">
            <a:avLst/>
          </a:prstGeom>
          <a:noFill/>
          <a:ln w="2540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9077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1744"/>
                </a:solidFill>
                <a:latin typeface="Segoe UI"/>
              </a:rPr>
              <a:t>🇧🇩  Bangladesh Premier League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410712"/>
            <a:ext cx="11274552" cy="36576"/>
          </a:xfrm>
          <a:prstGeom prst="rect">
            <a:avLst/>
          </a:prstGeom>
          <a:solidFill>
            <a:srgbClr val="33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49300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❌  Very low stadium attendance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99592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❌  Minimal social media presence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498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❌  Limited broadcast coverage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0017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❌  No internationally known star players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5046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Segoe UI"/>
              </a:rPr>
              <a:t>❌  Weak marketing &amp; fan engagement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32704" y="3931920"/>
            <a:ext cx="914400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ff1744"/>
              </a:gs>
              <a:gs pos="100000">
                <a:srgbClr val="00c853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32704" y="39319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22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" fill="hold">
                        <p:stCondLst>
                          <p:cond delay="300"/>
                        </p:stCondLst>
                        <p:childTnLst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25" dur="600" fill="hold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" fill="hold">
                        <p:stCondLst>
                          <p:cond delay="550"/>
                        </p:stCondLst>
                        <p:childTnLst>
                          <p:par>
                            <p:cTn id="27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28" dur="600" fill="hold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006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KEY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The Numbers Don't Lie 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1104" y="1371600"/>
            <a:ext cx="3657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1481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8"/>
                </a:solidFill>
                <a:latin typeface="Segoe UI"/>
              </a:rPr>
              <a:t>Bangladesh vs. European Football — Viewership &amp; Engagement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66160" cy="1828800"/>
          </a:xfrm>
          <a:prstGeom prst="rect">
            <a:avLst/>
          </a:prstGeom>
          <a:solidFill>
            <a:srgbClr val="0F162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1031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700"/>
                </a:solidFill>
                <a:latin typeface="Segoe UI"/>
              </a:rPr>
              <a:t>90%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017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Segoe UI"/>
              </a:rPr>
              <a:t>Bangladeshis follow at
least one European club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011680"/>
            <a:ext cx="3566160" cy="1828800"/>
          </a:xfrm>
          <a:prstGeom prst="rect">
            <a:avLst/>
          </a:prstGeom>
          <a:solidFill>
            <a:srgbClr val="0F162A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21031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1744"/>
                </a:solidFill>
                <a:latin typeface="Segoe UI"/>
              </a:rPr>
              <a:t>12%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017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Segoe UI"/>
              </a:rPr>
              <a:t>Follow BPL clubs
actively on social media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2011680"/>
            <a:ext cx="3566160" cy="1828800"/>
          </a:xfrm>
          <a:prstGeom prst="rect">
            <a:avLst/>
          </a:prstGeom>
          <a:solidFill>
            <a:srgbClr val="0F162A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21031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853"/>
                </a:solidFill>
                <a:latin typeface="Segoe UI"/>
              </a:rPr>
              <a:t>3M+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017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Segoe UI"/>
              </a:rPr>
              <a:t>Bangladeshis watch EPL
live every week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977639"/>
            <a:ext cx="3566160" cy="1828800"/>
          </a:xfrm>
          <a:prstGeom prst="rect">
            <a:avLst/>
          </a:prstGeom>
          <a:solidFill>
            <a:srgbClr val="0F162A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06907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7700"/>
                </a:solidFill>
                <a:latin typeface="Segoe UI"/>
              </a:rPr>
              <a:t>8,000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8347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Segoe UI"/>
              </a:rPr>
              <a:t>Average BPL stadium
attendance per match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977639"/>
            <a:ext cx="3566160" cy="1828800"/>
          </a:xfrm>
          <a:prstGeom prst="rect">
            <a:avLst/>
          </a:prstGeom>
          <a:solidFill>
            <a:srgbClr val="0F162A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406907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1744"/>
                </a:solidFill>
                <a:latin typeface="Segoe UI"/>
              </a:rPr>
              <a:t>60,000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498347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Segoe UI"/>
              </a:rPr>
              <a:t>Stadium capacity rarely
used — only 13% filled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3977639"/>
            <a:ext cx="3566160" cy="1828800"/>
          </a:xfrm>
          <a:prstGeom prst="rect">
            <a:avLst/>
          </a:prstGeom>
          <a:solidFill>
            <a:srgbClr val="0F162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406907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AA"/>
                </a:solidFill>
                <a:latin typeface="Segoe UI"/>
              </a:rPr>
              <a:t>&lt; 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983479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Segoe UI"/>
              </a:rPr>
              <a:t>Youth aged 18–30 who
watch BPL regularly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217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556688"/>
                </a:solidFill>
                <a:latin typeface="Segoe UI"/>
              </a:rPr>
              <a:t>* Sources: Bangladesh Football Federation (BFF), Statista, Sports Research BD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9" fill="hold">
                        <p:stCondLst>
                          <p:cond delay="100"/>
                        </p:stCondLst>
                        <p:childTnLst>
                          <p:par>
                            <p:cTn id="30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31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WHY EUROPEAN FOOTBALL?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Segoe UI"/>
              </a:rPr>
              <a:t>5 Reasons Youth Prefer European Football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32504" y="1371600"/>
            <a:ext cx="41148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nternational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54480"/>
            <a:ext cx="4114800" cy="484632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7772400" y="1554480"/>
            <a:ext cx="4114800" cy="4846320"/>
          </a:xfrm>
          <a:prstGeom prst="rect">
            <a:avLst/>
          </a:prstGeom>
          <a:ln>
            <a:noFill/>
          </a:ln>
          <a:solidFill>
            <a:srgbClr val="070b16">
              <a:alpha val="1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1554480"/>
            <a:ext cx="4114800" cy="4846320"/>
          </a:xfrm>
          <a:prstGeom prst="rect">
            <a:avLst/>
          </a:prstGeom>
          <a:noFill/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1600200"/>
            <a:ext cx="7132320" cy="7772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c1428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1600200"/>
            <a:ext cx="45720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160020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Segoe UI"/>
              </a:rPr>
              <a:t>⚡  Superstar 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198424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Ronaldo, Messi, Mbappé — icons with 500M+ social followers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514600"/>
            <a:ext cx="7132320" cy="7772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c1428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2514600"/>
            <a:ext cx="457200" cy="7772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251460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FF"/>
                </a:solidFill>
                <a:latin typeface="Segoe UI"/>
              </a:rPr>
              <a:t>🎬  World-Class Broadcast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289864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4K coverage, expert commentary, UEFA app &amp; highlights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9000"/>
            <a:ext cx="7132320" cy="7772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c1428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3429000"/>
            <a:ext cx="457200" cy="7772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42900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  <a:latin typeface="Segoe UI"/>
              </a:rPr>
              <a:t>🏟️  Electrifying Atmosphere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381304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50,000+ packed stadiums, ultras, flares, chants worldwide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343400"/>
            <a:ext cx="7132320" cy="7772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c1428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4343400"/>
            <a:ext cx="457200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34340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📱  Digital &amp; Social Media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" y="472744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Viral clips, TikTok, YouTube — content available 24/7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257800"/>
            <a:ext cx="7132320" cy="7772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c1428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5257800"/>
            <a:ext cx="457200" cy="7772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25780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700"/>
                </a:solidFill>
                <a:latin typeface="Segoe UI"/>
              </a:rPr>
              <a:t>🌐  Global Brand Identity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" y="564184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Club shirts, merchandise, FIFA games — culture &amp; lifestyle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32" fill="hold">
                        <p:stCondLst>
                          <p:cond delay="100"/>
                        </p:stCondLst>
                        <p:childTnLst>
                          <p:par>
                            <p:cTn id="33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34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BPL STRUGGLES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1744"/>
                </a:solidFill>
                <a:latin typeface="Segoe UI"/>
              </a:rPr>
              <a:t>Why Bangladesh Premier League Struggles ⚠️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1371600"/>
            <a:ext cx="3657600" cy="54864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16002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a0505"/>
              </a:gs>
              <a:gs pos="100000">
                <a:srgbClr val="0f162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1600200"/>
            <a:ext cx="5577840" cy="1417320"/>
          </a:xfrm>
          <a:prstGeom prst="rect">
            <a:avLst/>
          </a:prstGeom>
          <a:noFill/>
          <a:ln w="1651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1691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17099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1744"/>
                </a:solidFill>
                <a:latin typeface="Segoe UI"/>
              </a:rPr>
              <a:t>Poor Marketing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214884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No star promotions, no hype campaigns, no youth outreach programs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6002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a0505"/>
              </a:gs>
              <a:gs pos="100000">
                <a:srgbClr val="0f162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1600200"/>
            <a:ext cx="5577840" cy="1417320"/>
          </a:xfrm>
          <a:prstGeom prst="rect">
            <a:avLst/>
          </a:prstGeom>
          <a:noFill/>
          <a:ln w="1651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1691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17099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1744"/>
                </a:solidFill>
                <a:latin typeface="Segoe UI"/>
              </a:rPr>
              <a:t>Weak Broadcasting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214884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Inconsistent TV schedule, poor stream quality, no streaming app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2004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a0505"/>
              </a:gs>
              <a:gs pos="100000">
                <a:srgbClr val="0f162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3200400"/>
            <a:ext cx="5577840" cy="1417320"/>
          </a:xfrm>
          <a:prstGeom prst="rect">
            <a:avLst/>
          </a:prstGeom>
          <a:noFill/>
          <a:ln w="1651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3291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" y="33101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1744"/>
                </a:solidFill>
                <a:latin typeface="Segoe UI"/>
              </a:rPr>
              <a:t>No Star Players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3749039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Local players lack global recognition; no foreign marquee signings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2004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a0505"/>
              </a:gs>
              <a:gs pos="100000">
                <a:srgbClr val="0f162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3200400"/>
            <a:ext cx="5577840" cy="1417320"/>
          </a:xfrm>
          <a:prstGeom prst="rect">
            <a:avLst/>
          </a:prstGeom>
          <a:noFill/>
          <a:ln w="1651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3291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🏟️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33101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1744"/>
                </a:solidFill>
                <a:latin typeface="Segoe UI"/>
              </a:rPr>
              <a:t>Stadium Experience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3749039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Outdated venues, poor facilities, security concerns deter attendance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8006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a0505"/>
              </a:gs>
              <a:gs pos="100000">
                <a:srgbClr val="0f162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4800600"/>
            <a:ext cx="5577840" cy="1417320"/>
          </a:xfrm>
          <a:prstGeom prst="rect">
            <a:avLst/>
          </a:prstGeom>
          <a:noFill/>
          <a:ln w="1651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8920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49103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1744"/>
                </a:solidFill>
                <a:latin typeface="Segoe UI"/>
              </a:rPr>
              <a:t>Financial Instability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" y="534924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Clubs face funding issues; salaries delayed; no investor confidence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48006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a0505"/>
              </a:gs>
              <a:gs pos="100000">
                <a:srgbClr val="0f162a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09360" y="4800600"/>
            <a:ext cx="5577840" cy="1417320"/>
          </a:xfrm>
          <a:prstGeom prst="rect">
            <a:avLst/>
          </a:prstGeom>
          <a:noFill/>
          <a:ln w="1651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48920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86600" y="49103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1744"/>
                </a:solidFill>
                <a:latin typeface="Segoe UI"/>
              </a:rPr>
              <a:t>Digital Absence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600" y="534924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Almost zero social media strategy; no highlight reels or shorts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35" fill="hold">
                        <p:stCondLst>
                          <p:cond delay="100"/>
                        </p:stCondLst>
                        <p:childTnLst>
                          <p:par>
                            <p:cTn id="36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37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006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BANGLADESHI FOOTBALL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853"/>
                </a:solidFill>
                <a:latin typeface="Segoe UI"/>
              </a:rPr>
              <a:t>Bangladesh Has Talented Players — But Lacks Exposure 🇧🇩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03904" y="1371600"/>
            <a:ext cx="45720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angladesh_p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08760"/>
            <a:ext cx="3657600" cy="493776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8229600" y="1508760"/>
            <a:ext cx="3657600" cy="4937760"/>
          </a:xfrm>
          <a:prstGeom prst="rect">
            <a:avLst/>
          </a:prstGeom>
          <a:ln>
            <a:noFill/>
          </a:ln>
          <a:solidFill>
            <a:srgbClr val="070b16">
              <a:alpha val="1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1508760"/>
            <a:ext cx="3657600" cy="4937760"/>
          </a:xfrm>
          <a:prstGeom prst="rect">
            <a:avLst/>
          </a:prstGeom>
          <a:noFill/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1600200"/>
            <a:ext cx="7498079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a0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1600200"/>
            <a:ext cx="73152" cy="822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  <a:latin typeface="Segoe UI"/>
              </a:rPr>
              <a:t>Hamza Choudhury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0116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British-Bangladeshi midfielder, Leicester City FC
First Bangladeshi-origin player in Premier League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2542032"/>
            <a:ext cx="7498079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a0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2542032"/>
            <a:ext cx="73152" cy="822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25877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  <a:latin typeface="Segoe UI"/>
              </a:rPr>
              <a:t>Jamal Bhuyan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295351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Bangladesh national team captain &amp; midfielder
Played in professional leagues in Denmark &amp; Spain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483864"/>
            <a:ext cx="7498079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a0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3483864"/>
            <a:ext cx="73152" cy="822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35295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  <a:latin typeface="Segoe UI"/>
              </a:rPr>
              <a:t>Sheikh Morsalin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389534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Top scorer of Bangladesh national team
Known for explosive speed and clinical finishing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425696"/>
            <a:ext cx="7498079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a0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5760" y="4425696"/>
            <a:ext cx="73152" cy="822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44714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  <a:latin typeface="Segoe UI"/>
              </a:rPr>
              <a:t>Biplu Ahmed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483717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Experienced winger for national team
BFF Player of the Year multiple times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367528"/>
            <a:ext cx="7498079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a0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" y="5367528"/>
            <a:ext cx="73152" cy="822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413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" y="5413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  <a:latin typeface="Segoe UI"/>
              </a:rPr>
              <a:t>Rakib Hossain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577900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Young talent from Abahani FC
Considered the next big prospect of Bangladeshi football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38" fill="hold">
                        <p:stCondLst>
                          <p:cond delay="100"/>
                        </p:stCondLst>
                        <p:childTnLst>
                          <p:par>
                            <p:cTn id="39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40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AA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INTERNATIONAL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Segoe UI"/>
              </a:rPr>
              <a:t>Why Global Stars Drive Fan Engagement 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371600"/>
            <a:ext cx="41148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nternational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3931920" cy="484632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365760" y="1554480"/>
            <a:ext cx="3931920" cy="4846320"/>
          </a:xfrm>
          <a:prstGeom prst="rect">
            <a:avLst/>
          </a:prstGeom>
          <a:ln>
            <a:noFill/>
          </a:ln>
          <a:solidFill>
            <a:srgbClr val="070b16">
              <a:alpha val="1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554480"/>
            <a:ext cx="3931920" cy="4846320"/>
          </a:xfrm>
          <a:prstGeom prst="rect">
            <a:avLst/>
          </a:prstGeom>
          <a:noFill/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1600200"/>
            <a:ext cx="7223760" cy="109728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121005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0" y="1600200"/>
            <a:ext cx="7223760" cy="1097280"/>
          </a:xfrm>
          <a:prstGeom prst="rect">
            <a:avLst/>
          </a:prstGeom>
          <a:noFill/>
          <a:ln w="1651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167335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Segoe UI"/>
              </a:rPr>
              <a:t>⭐ Cristiano Ronaldo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2103120"/>
            <a:ext cx="6766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Segoe UI"/>
              </a:rPr>
              <a:t>635M+ Instagram followers
Global brand worth $1.5 billion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2834640"/>
            <a:ext cx="7223760" cy="109728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121005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0" y="2834640"/>
            <a:ext cx="7223760" cy="1097280"/>
          </a:xfrm>
          <a:prstGeom prst="rect">
            <a:avLst/>
          </a:prstGeom>
          <a:noFill/>
          <a:ln w="1651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0" y="290779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700"/>
                </a:solidFill>
                <a:latin typeface="Segoe UI"/>
              </a:rPr>
              <a:t>⭐ Lionel Messi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3337560"/>
            <a:ext cx="6766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Segoe UI"/>
              </a:rPr>
              <a:t>500M+ followers; Inter Miami
Argentina World Cup hero 2022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4069080"/>
            <a:ext cx="7223760" cy="109728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121005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0" y="4069080"/>
            <a:ext cx="7223760" cy="1097280"/>
          </a:xfrm>
          <a:prstGeom prst="rect">
            <a:avLst/>
          </a:prstGeom>
          <a:noFill/>
          <a:ln w="1651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414223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FF"/>
                </a:solidFill>
                <a:latin typeface="Segoe UI"/>
              </a:rPr>
              <a:t>⭐ Kylian Mbappé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572000"/>
            <a:ext cx="6766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Segoe UI"/>
              </a:rPr>
              <a:t>Real Madrid star; fastest in EPL era
France's golden generation leader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5303520"/>
            <a:ext cx="7223760" cy="109728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121005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0" y="5303520"/>
            <a:ext cx="7223760" cy="1097280"/>
          </a:xfrm>
          <a:prstGeom prst="rect">
            <a:avLst/>
          </a:prstGeom>
          <a:noFill/>
          <a:ln w="1651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0" y="53766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  <a:latin typeface="Segoe UI"/>
              </a:rPr>
              <a:t>⭐ Erling Haaland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0" y="5806440"/>
            <a:ext cx="6766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Segoe UI"/>
              </a:rPr>
              <a:t>52 goals/season — Man City striker
Most watched striker in the world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0080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Segoe UI"/>
              </a:rPr>
              <a:t>💡 BPL needs a similar star culture to attract youth viewers!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41" fill="hold">
                        <p:stCondLst>
                          <p:cond delay="100"/>
                        </p:stCondLst>
                        <p:childTnLst>
                          <p:par>
                            <p:cTn id="42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43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MARKETING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FF7700"/>
                </a:solidFill>
                <a:latin typeface="Segoe UI"/>
              </a:rPr>
              <a:t>BPL's Marketing vs. European Football Marketing 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03904" y="1371600"/>
            <a:ext cx="4572000" cy="54864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828800"/>
            <a:ext cx="6492240" cy="43891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1828800"/>
            <a:ext cx="6492240" cy="4389120"/>
          </a:xfrm>
          <a:prstGeom prst="rect">
            <a:avLst/>
          </a:prstGeom>
          <a:noFill/>
          <a:ln w="2286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1874519"/>
            <a:ext cx="6309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1744"/>
                </a:solidFill>
                <a:latin typeface="Segoe UI"/>
              </a:rPr>
              <a:t>BPL Marketing 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242316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❌ No official promotion on social media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3136391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❌ Zero youth ambassador programs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3849624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❌ No jersey culture or merchandise stores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562856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❌ Matches not promoted on mainstream TV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276088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❌ No fan zones or pre-match events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1828800"/>
            <a:ext cx="5303520" cy="43891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1828800"/>
            <a:ext cx="5303520" cy="4389120"/>
          </a:xfrm>
          <a:prstGeom prst="rect">
            <a:avLst/>
          </a:prstGeom>
          <a:noFill/>
          <a:ln w="2286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79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53"/>
                </a:solidFill>
                <a:latin typeface="Segoe UI"/>
              </a:rPr>
              <a:t>European Football 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24231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✅ 100M+ ad spend per club per season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313639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✅ Global ambassador partnerships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384962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✅ Official jerseys sold in 180+ countries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56285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✅ Prime time slots + dedicated channels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527608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Segoe UI"/>
              </a:rPr>
              <a:t>✅ Fan experience zones in every stadium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44" fill="hold">
                        <p:stCondLst>
                          <p:cond delay="100"/>
                        </p:stCondLst>
                        <p:childTnLst>
                          <p:par>
                            <p:cTn id="45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46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008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BROADCASTING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AA"/>
                </a:solidFill>
                <a:latin typeface="Segoe UI"/>
              </a:rPr>
              <a:t>The Broadcasting Gap 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9704" y="1371600"/>
            <a:ext cx="32004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1600200"/>
            <a:ext cx="11430000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61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1600200"/>
            <a:ext cx="64008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17099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16550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No Streaming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" y="203911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BPL has no official app or OTT platform; European leagues have Prime Video, DAZN, Peacock, Disney+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2560320"/>
            <a:ext cx="11430000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61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" y="2560320"/>
            <a:ext cx="64008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26700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🎙️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26151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Poor Commentary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299923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Local broadcasting lacks professional commentary; no English or multilingual options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520440"/>
            <a:ext cx="11430000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61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3520440"/>
            <a:ext cx="64008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301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35753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Camera Quality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" y="395935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Single-camera coverage vs. UEFA's 30+ camera, VR, 4K drone coverage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480560"/>
            <a:ext cx="11430000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61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4480560"/>
            <a:ext cx="64008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45902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" y="45354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Irregular Scheduling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" y="49194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Match times change last minute; no fixed schedule disrupts fan planning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440680"/>
            <a:ext cx="11430000" cy="82296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3161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5760" y="5440680"/>
            <a:ext cx="64008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55504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🌍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3000" y="54955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No International Feed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3000" y="58795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BPL matches unavailable outside Bangladesh; zero global audience growth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47" fill="hold">
                        <p:stCondLst>
                          <p:cond delay="100"/>
                        </p:stCondLst>
                        <p:childTnLst>
                          <p:par>
                            <p:cTn id="48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49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STADIUM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10</a:t>
            </a:r>
          </a:p>
        </p:txBody>
      </p:sp>
      <p:pic>
        <p:nvPicPr>
          <p:cNvPr id="6" name="Picture 5" descr="bangladesh_sta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5330952" cy="6766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0" y="91440"/>
            <a:ext cx="5330952" cy="6766560"/>
          </a:xfrm>
          <a:prstGeom prst="rect">
            <a:avLst/>
          </a:prstGeom>
          <a:ln>
            <a:noFill/>
          </a:ln>
          <a:solidFill>
            <a:srgbClr val="070b16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7700"/>
                </a:solidFill>
                <a:latin typeface="Segoe UI"/>
              </a:rPr>
              <a:t>Stadium Experience: Night &amp; Day Difference 🏟️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1371600"/>
            <a:ext cx="5029200" cy="54864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1600200"/>
            <a:ext cx="6217920" cy="7315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1600200"/>
            <a:ext cx="548640" cy="7315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16642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" y="1655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700"/>
                </a:solidFill>
                <a:latin typeface="Segoe UI"/>
              </a:rPr>
              <a:t>Poor Infrastructure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Old, poorly maintained stands with broken seats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2441448"/>
            <a:ext cx="6217920" cy="7315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2441448"/>
            <a:ext cx="548640" cy="7315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2505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" y="2496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700"/>
                </a:solidFill>
                <a:latin typeface="Segoe UI"/>
              </a:rPr>
              <a:t>Security Concerns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" y="28254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Crowd management issues scare away families &amp; women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282696"/>
            <a:ext cx="6217920" cy="7315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5760" y="3282696"/>
            <a:ext cx="548640" cy="7315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346703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700"/>
                </a:solidFill>
                <a:latin typeface="Segoe UI"/>
              </a:rPr>
              <a:t>No Food/Entertainment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" y="36667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No food courts, fan zones, or entertainment areas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123944"/>
            <a:ext cx="6217920" cy="7315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5760" y="4123944"/>
            <a:ext cx="548640" cy="7315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4187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" y="41788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700"/>
                </a:solidFill>
                <a:latin typeface="Segoe UI"/>
              </a:rPr>
              <a:t>Transport Access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8" y="4507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Lack of easy transport to stadiums in major cities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965192"/>
            <a:ext cx="6217920" cy="7315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5760" y="4965192"/>
            <a:ext cx="548640" cy="7315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5029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🌧️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" y="502005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700"/>
                </a:solidFill>
                <a:latin typeface="Segoe UI"/>
              </a:rPr>
              <a:t>Weather Exposure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No covered seating areas; fans leave in rain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806440"/>
            <a:ext cx="6217920" cy="7315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65760" y="5806440"/>
            <a:ext cx="548640" cy="7315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5870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" y="58613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700"/>
                </a:solidFill>
                <a:latin typeface="Segoe UI"/>
              </a:rPr>
              <a:t>Poor Lighting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" y="61904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Outdated lighting fails night broadcast standards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50" fill="hold">
                        <p:stCondLst>
                          <p:cond delay="100"/>
                        </p:stCondLst>
                        <p:childTnLst>
                          <p:par>
                            <p:cTn id="51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52" dur="600" fill="hold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YOUTH DISCONNECT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008BFF"/>
                </a:solidFill>
                <a:latin typeface="Segoe UI"/>
              </a:rPr>
              <a:t>Why Urban Youth Are Disconnected from BPL 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3904" y="1371600"/>
            <a:ext cx="45720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1600200"/>
            <a:ext cx="11274552" cy="10058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8152a"/>
              </a:gs>
              <a:gs pos="100000">
                <a:srgbClr val="0f162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1600200"/>
            <a:ext cx="73152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16642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  <a:latin typeface="Segoe UI"/>
              </a:rPr>
              <a:t>"I watch UCL highlights the moment they drop — BPL? I don't even know when the season starts."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4871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6688"/>
                </a:solidFill>
                <a:latin typeface="Segoe UI"/>
              </a:rPr>
              <a:t>— Urban Bangladeshi Youth (Survey Response, 2024)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2834640"/>
            <a:ext cx="11430000" cy="65836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6102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2834640"/>
            <a:ext cx="50292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2907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  <a:latin typeface="Segoe UI"/>
              </a:rPr>
              <a:t>No Social Media Content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3200400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BPL clubs barely post; no reels, highlights, or memes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593592"/>
            <a:ext cx="11430000" cy="65836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6102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3593592"/>
            <a:ext cx="50292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36667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🎮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" y="3639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  <a:latin typeface="Segoe UI"/>
              </a:rPr>
              <a:t>Gaming &amp; FIFA Culture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" y="395935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Youth identify with EPL/LaLiga clubs through FIFA video games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352544"/>
            <a:ext cx="11430000" cy="65836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6102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5760" y="4352544"/>
            <a:ext cx="50292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4425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43982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  <a:latin typeface="Segoe UI"/>
              </a:rPr>
              <a:t>No Fan Identity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4718304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BPL clubs have no cool jersey, badge, or fan culture youth relate 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111496"/>
            <a:ext cx="11430000" cy="65836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6102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760" y="5111496"/>
            <a:ext cx="50292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5184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51572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  <a:latin typeface="Segoe UI"/>
              </a:rPr>
              <a:t>Content Unavailability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5840" y="5477256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No YouTube channel, Shorts, or TikTok presence for BPL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870448"/>
            <a:ext cx="11430000" cy="65836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6102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5760" y="5870448"/>
            <a:ext cx="50292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5943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🤷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5840" y="5916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  <a:latin typeface="Segoe UI"/>
              </a:rPr>
              <a:t>No Role Model Players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" y="623620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Segoe UI"/>
              </a:rPr>
              <a:t>Youth can't name a BPL star the way they name Messi or Ronaldo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53" fill="hold">
                        <p:stCondLst>
                          <p:cond delay="100"/>
                        </p:stCondLst>
                        <p:childTnLst>
                          <p:par>
                            <p:cTn id="54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55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007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AA"/>
                </a:solidFill>
                <a:latin typeface="Segoe UI"/>
              </a:rPr>
              <a:t>How to Fix BPL &amp; Attract Urban Youth 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32504" y="1371600"/>
            <a:ext cx="41148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16002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5760" y="1600200"/>
            <a:ext cx="5577840" cy="1417320"/>
          </a:xfrm>
          <a:prstGeom prst="rect">
            <a:avLst/>
          </a:prstGeom>
          <a:noFill/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1600200"/>
            <a:ext cx="502920" cy="1417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1600200"/>
            <a:ext cx="502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Segoe UI"/>
              </a:rPr>
              <a:t>Digital Revolution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" y="214884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Launch official OTT app, YouTube channel, TikTok, Instagram reels for highlights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16002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09360" y="1600200"/>
            <a:ext cx="5577840" cy="1417320"/>
          </a:xfrm>
          <a:prstGeom prst="rect">
            <a:avLst/>
          </a:prstGeom>
          <a:noFill/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1600200"/>
            <a:ext cx="5029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1600200"/>
            <a:ext cx="502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16916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Segoe UI"/>
              </a:rPr>
              <a:t>Star Player Signings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14884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Bring in 2-3 international marquee players to spark excitement and media attention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32004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5760" y="3200400"/>
            <a:ext cx="5577840" cy="1417320"/>
          </a:xfrm>
          <a:prstGeom prst="rect">
            <a:avLst/>
          </a:prstGeom>
          <a:noFill/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5760" y="3200400"/>
            <a:ext cx="502920" cy="1417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3200400"/>
            <a:ext cx="502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" y="3291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Segoe UI"/>
              </a:rPr>
              <a:t>Youth Engagement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" y="3749039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Free student tickets, campus fan clubs, BPL gaming tournaments &amp; fantasy leagues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32004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09360" y="3200400"/>
            <a:ext cx="5577840" cy="1417320"/>
          </a:xfrm>
          <a:prstGeom prst="rect">
            <a:avLst/>
          </a:prstGeom>
          <a:noFill/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09360" y="3200400"/>
            <a:ext cx="502920" cy="14173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09360" y="3200400"/>
            <a:ext cx="502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03720" y="3291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700"/>
                </a:solidFill>
                <a:latin typeface="Segoe UI"/>
              </a:rPr>
              <a:t>Upgrade Stadiums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3720" y="3749039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Modern covered stands, fan zones, food courts, LED screens, proper security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48006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" y="4800600"/>
            <a:ext cx="5577840" cy="1417320"/>
          </a:xfrm>
          <a:prstGeom prst="rect">
            <a:avLst/>
          </a:prstGeom>
          <a:noFill/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" y="4800600"/>
            <a:ext cx="502920" cy="14173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4800600"/>
            <a:ext cx="502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0120" y="4892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Segoe UI"/>
              </a:rPr>
              <a:t>Marketing Campaigns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" y="534924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Billboard, TV, social media campaigns targeting 18–30 year old urban demographic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4800600"/>
            <a:ext cx="5577840" cy="1417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f162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09360" y="4800600"/>
            <a:ext cx="5577840" cy="1417320"/>
          </a:xfrm>
          <a:prstGeom prst="rect">
            <a:avLst/>
          </a:prstGeom>
          <a:noFill/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309360" y="4800600"/>
            <a:ext cx="502920" cy="14173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09360" y="4800600"/>
            <a:ext cx="502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03720" y="4892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744"/>
                </a:solidFill>
                <a:latin typeface="Segoe UI"/>
              </a:rPr>
              <a:t>Professional Broadcasting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03720" y="534924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Segoe UI"/>
              </a:rPr>
              <a:t>Partner with international broadcasters; 4K coverage, multi-language commentary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56" fill="hold">
                        <p:stCondLst>
                          <p:cond delay="100"/>
                        </p:stCondLst>
                        <p:childTnLst>
                          <p:par>
                            <p:cTn id="57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58" dur="600" fill="hold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31a0a"/>
              </a:gs>
              <a:gs pos="100000">
                <a:srgbClr val="070b1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006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53"/>
                </a:solidFill>
                <a:latin typeface="Segoe UI"/>
              </a:rPr>
              <a:t>A Future Where BPL Inspires a Nation 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32504" y="1371600"/>
            <a:ext cx="41148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1600200"/>
            <a:ext cx="11274552" cy="4663440"/>
          </a:xfrm>
          <a:prstGeom prst="rect">
            <a:avLst/>
          </a:prstGeom>
          <a:ln>
            <a:noFill/>
          </a:ln>
          <a:solidFill>
            <a:srgbClr val="0f162a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1600200"/>
            <a:ext cx="11274552" cy="4663440"/>
          </a:xfrm>
          <a:prstGeom prst="rect">
            <a:avLst/>
          </a:prstGeom>
          <a:noFill/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18288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CCD6E8"/>
                </a:solidFill>
                <a:latin typeface="Segoe UI"/>
              </a:rPr>
              <a:t>🏟️  30,000+ average stadium attendance per match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2011680"/>
            <a:ext cx="137160" cy="228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25420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CCD6E8"/>
                </a:solidFill>
                <a:latin typeface="Segoe UI"/>
              </a:rPr>
              <a:t>📱  1 Million+ BPL social media followers by 2026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" y="2724912"/>
            <a:ext cx="137160" cy="228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3255264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CCD6E8"/>
                </a:solidFill>
                <a:latin typeface="Segoe UI"/>
              </a:rPr>
              <a:t>🌍  International broadcast deals with Al Jazeera, Willow TV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3438144"/>
            <a:ext cx="137160" cy="228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396849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CCD6E8"/>
                </a:solidFill>
                <a:latin typeface="Segoe UI"/>
              </a:rPr>
              <a:t>⚽  Bangladeshi players competing in Asian Champions League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4151376"/>
            <a:ext cx="137160" cy="228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" y="468172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CCD6E8"/>
                </a:solidFill>
                <a:latin typeface="Segoe UI"/>
              </a:rPr>
              <a:t>👕  BPL jersey culture among youth across Dhaka, Chittagong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864608"/>
            <a:ext cx="137160" cy="228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CCD6E8"/>
                </a:solidFill>
                <a:latin typeface="Segoe UI"/>
              </a:rPr>
              <a:t>💰  Major brand sponsorships: Grameenphone, Bashundhara, bKash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5577840"/>
            <a:ext cx="137160" cy="228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30936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FFD700"/>
                </a:solidFill>
                <a:latin typeface="Segoe UI"/>
              </a:rPr>
              <a:t>"Football is not just a sport — it is the heartbeat of a nation."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59" fill="hold">
                        <p:stCondLst>
                          <p:cond delay="100"/>
                        </p:stCondLst>
                        <p:childTnLst>
                          <p:par>
                            <p:cTn id="60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61" dur="600" fill="hold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l_slide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solidFill>
            <a:srgbClr val="070b16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ff1744"/>
              </a:gs>
              <a:gs pos="100000">
                <a:srgbClr val="00c853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solidFill>
            <a:srgbClr val="006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109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A3A5A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46904" y="1389888"/>
            <a:ext cx="22860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400" y="1600200"/>
            <a:ext cx="10360152" cy="3291840"/>
          </a:xfrm>
          <a:prstGeom prst="rect">
            <a:avLst/>
          </a:prstGeom>
          <a:ln>
            <a:noFill/>
          </a:ln>
          <a:solidFill>
            <a:srgbClr val="0f162a">
              <a:alpha val="8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4400" y="1600200"/>
            <a:ext cx="10360152" cy="3291840"/>
          </a:xfrm>
          <a:prstGeom prst="rect">
            <a:avLst/>
          </a:prstGeom>
          <a:noFill/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1737360"/>
            <a:ext cx="9811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Bangladesh Premier League's failure to attract urban youth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88720" y="2286000"/>
            <a:ext cx="9811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1744"/>
                </a:solidFill>
                <a:latin typeface="Segoe UI"/>
              </a:rPr>
              <a:t>is not a football problem — it is a MANAGEMENT &amp; MARKETING problem.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2926080"/>
            <a:ext cx="11274552" cy="36576"/>
          </a:xfrm>
          <a:prstGeom prst="rect">
            <a:avLst/>
          </a:prstGeom>
          <a:solidFill>
            <a:srgbClr val="22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600" y="30175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0" i="0">
                <a:solidFill>
                  <a:srgbClr val="CCD6E8"/>
                </a:solidFill>
                <a:latin typeface="Segoe UI"/>
              </a:rPr>
              <a:t>✅  With proper digital marketing, quality broadcasting,
      modern stadiums, and star-player culture —
      BPL CAN become the pride of Bangladeshi youth.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71600" y="5074920"/>
            <a:ext cx="9445752" cy="685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662a"/>
              </a:gs>
              <a:gs pos="100000">
                <a:srgbClr val="00551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5074920"/>
            <a:ext cx="9445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🇧🇩  BPL — From Local League to National Pride  🇧🇩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  <a:latin typeface="Segoe UI"/>
              </a:rPr>
              <a:t>Thank You for Your Attention!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" y="6638544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688"/>
                </a:solidFill>
                <a:latin typeface="Segoe UI"/>
              </a:rPr>
              <a:t>© Copyright by Tahorim Somrat  •  Why BPL Fails to Attract Urban Youth  |  Batch 232 — Textile Department</a:t>
            </a:r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62" fill="hold">
                        <p:stCondLst>
                          <p:cond delay="100"/>
                        </p:stCondLst>
                        <p:childTnLst>
                          <p:par>
                            <p:cTn id="63" fill="hold">
                              <p:stCondLst>
                                <p:cond delay="0"/>
                              </p:stCondLst>
                              <p:childTnLst>
                                <p:animEffect transition="in" filter="fly">
                                  <p:cBhvr>
                                    <p:cTn id="64" dur="600" fill="hold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gtEl>
                      <p:sldTgt/>
                    </p:tgtEl>
                  </p:cond>
                </p:prevCondLst>
                <p:nextCondLst>
                  <p:cond evt="onNextClick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