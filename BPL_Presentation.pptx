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ser_spli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Segoe UI"/>
              </a:rPr>
              <a:t>⚽ 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Why Bangladesh Premier League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53"/>
                </a:solidFill>
                <a:latin typeface="Segoe UI"/>
              </a:rPr>
              <a:t>Fails to Attract Urban Youth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17520"/>
            <a:ext cx="57881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6E8"/>
                </a:solidFill>
                <a:latin typeface="Segoe UI"/>
              </a:rPr>
              <a:t>A Research-Based Presentation on Football Culture &amp; Fan Behavior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931920"/>
            <a:ext cx="5212080" cy="2286000"/>
          </a:xfrm>
          <a:prstGeom prst="rect">
            <a:avLst/>
          </a:prstGeom>
          <a:solidFill>
            <a:srgbClr val="1018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931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Segoe UI"/>
              </a:rPr>
              <a:t>Presented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43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Member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6542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Member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965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Member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2760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Member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8698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Member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© Copyright by Tahorim Somrat  |  BPL Football Presentation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4" dur="7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" presetID="10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fade">
                            <p:cBhvr>
                              <p:cTn id="6" dur="700" fill="hold"/>
                              <p:tgtEl>
                                <p:spTgt spid="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7" presetID="10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fade">
                            <p:cBhvr>
                              <p:cTn id="8" dur="700" fill="hold"/>
                              <p:tgtEl>
                                <p:spTgt spid="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10" dur="600" fill="hold"/>
                              <p:tgtEl>
                                <p:spTgt spid="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" presetID="2" presetClass="entr" presetSubtype="8" fill="hold" grpId="0" nodeType="clickEffect">
                        <p:stCondLst>
                          <p:cond delay="500"/>
                        </p:stCondLst>
                        <p:childTnLst>
                          <p:animEffect transition="in" filter="fly">
                            <p:cBhvr>
                              <p:cTn id="12" dur="600" fill="hold"/>
                              <p:tgtEl>
                                <p:spTgt spid="1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14" dur="700" fill="hold"/>
                              <p:tgtEl>
                                <p:spTgt spid="1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16" dur="700" fill="hold"/>
                              <p:tgtEl>
                                <p:spTgt spid="1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7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18" dur="700" fill="hold"/>
                              <p:tgtEl>
                                <p:spTgt spid="1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20" dur="700" fill="hold"/>
                              <p:tgtEl>
                                <p:spTgt spid="1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22" dur="700" fill="hold"/>
                              <p:tgtEl>
                                <p:spTgt spid="2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" presetID="10" presetClass="entr" presetSubtype="0" fill="hold" grpId="0" nodeType="clickEffect">
                        <p:stCondLst>
                          <p:cond delay="1250"/>
                        </p:stCondLst>
                        <p:childTnLst>
                          <p:animEffect transition="in" filter="fade">
                            <p:cBhvr>
                              <p:cTn id="24" dur="700" fill="hold"/>
                              <p:tgtEl>
                                <p:spTgt spid="2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26" dur="700" fill="hold"/>
                              <p:tgtEl>
                                <p:spTgt spid="2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7" presetID="10" presetClass="entr" presetSubtype="0" fill="hold" grpId="0" nodeType="clickEffect">
                        <p:stCondLst>
                          <p:cond delay="1550"/>
                        </p:stCondLst>
                        <p:childTnLst>
                          <p:animEffect transition="in" filter="fade">
                            <p:cBhvr>
                              <p:cTn id="28" dur="700" fill="hold"/>
                              <p:tgtEl>
                                <p:spTgt spid="2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" presetID="10" presetClass="entr" presetSubtype="0" fill="hold" grpId="0" nodeType="clickEffect">
                        <p:stCondLst>
                          <p:cond delay="1700"/>
                        </p:stCondLst>
                        <p:childTnLst>
                          <p:animEffect transition="in" filter="fade">
                            <p:cBhvr>
                              <p:cTn id="30" dur="700" fill="hold"/>
                              <p:tgtEl>
                                <p:spTgt spid="2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32" dur="700" fill="hold"/>
                              <p:tgtEl>
                                <p:spTgt spid="3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3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34" dur="700" fill="hold"/>
                              <p:tgtEl>
                                <p:spTgt spid="33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2560320" cy="457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182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THE REALITY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Bangladesh Loves Football ❤️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Segoe UI"/>
              </a:rPr>
              <a:t>BUT…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744"/>
                </a:solidFill>
                <a:latin typeface="Segoe UI"/>
              </a:rPr>
              <a:t>Bangladesh Doesn't Watch Local Football 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788920"/>
            <a:ext cx="11274552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2926080"/>
            <a:ext cx="5303520" cy="3383280"/>
          </a:xfrm>
          <a:prstGeom prst="rect">
            <a:avLst/>
          </a:prstGeom>
          <a:solidFill>
            <a:srgbClr val="082A18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53"/>
                </a:solidFill>
                <a:latin typeface="Segoe UI"/>
              </a:rPr>
              <a:t>🌍  European Football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✔  Millions of Bangladeshi Fans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0965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✔  Huge Social Media Buzz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5811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✔  Packed Stadiums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657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✔  Global Star Players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5504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✔  Premium Broadcasting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2926080"/>
            <a:ext cx="5303520" cy="3383280"/>
          </a:xfrm>
          <a:prstGeom prst="rect">
            <a:avLst/>
          </a:prstGeom>
          <a:solidFill>
            <a:srgbClr val="2A0808"/>
          </a:solidFill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744"/>
                </a:solidFill>
                <a:latin typeface="Segoe UI"/>
              </a:rPr>
              <a:t>🇧🇩  Bangladesh Premier League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11112" y="3611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❌  Low Stadium Attendance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1112" y="40965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❌  Limited Media Attention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1112" y="45811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❌  Less Excitement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1112" y="50657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❌  No Star Promotion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11112" y="55504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❌  Weak Broadcasting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4114800"/>
            <a:ext cx="1216152" cy="1216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0" y="4206240"/>
            <a:ext cx="1216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1A"/>
                </a:solidFill>
                <a:latin typeface="Segoe UI"/>
              </a:rPr>
              <a:t>VS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5" presetID="22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zoom">
                            <p:cBhvr>
                              <p:cTn id="36" dur="500" fill="hold"/>
                              <p:tgtEl>
                                <p:spTgt spid="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" presetID="22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zoom">
                            <p:cBhvr>
                              <p:cTn id="38" dur="500" fill="hold"/>
                              <p:tgtEl>
                                <p:spTgt spid="3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9" presetID="2" presetClass="entr" presetSubtype="8" fill="hold" grpId="0" nodeType="clickEffect">
                        <p:stCondLst>
                          <p:cond delay="200"/>
                        </p:stCondLst>
                        <p:childTnLst>
                          <p:animEffect transition="in" filter="fly">
                            <p:cBhvr>
                              <p:cTn id="40" dur="600" fill="hold"/>
                              <p:tgtEl>
                                <p:spTgt spid="40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" presetID="2" presetClass="entr" presetSubtype="8" fill="hold" grpId="0" nodeType="clickEffect">
                        <p:stCondLst>
                          <p:cond delay="400"/>
                        </p:stCondLst>
                        <p:childTnLst>
                          <p:animEffect transition="in" filter="fly">
                            <p:cBhvr>
                              <p:cTn id="42" dur="600" fill="hold"/>
                              <p:tgtEl>
                                <p:spTgt spid="4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" presetID="2" presetClass="entr" presetSubtype="8" fill="hold" grpId="0" nodeType="clickEffect">
                        <p:stCondLst>
                          <p:cond delay="600"/>
                        </p:stCondLst>
                        <p:childTnLst>
                          <p:animEffect transition="in" filter="fly">
                            <p:cBhvr>
                              <p:cTn id="44" dur="600" fill="hold"/>
                              <p:tgtEl>
                                <p:spTgt spid="4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5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46" dur="700" fill="hold"/>
                              <p:tgtEl>
                                <p:spTgt spid="4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7" presetID="2" presetClass="entr" presetSubtype="8" fill="hold" grpId="0" nodeType="clickEffect">
                        <p:stCondLst>
                          <p:cond delay="800"/>
                        </p:stCondLst>
                        <p:childTnLst>
                          <p:animEffect transition="in" filter="fly">
                            <p:cBhvr>
                              <p:cTn id="48" dur="600" fill="hold"/>
                              <p:tgtEl>
                                <p:spTgt spid="4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9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50" dur="700" fill="hold"/>
                              <p:tgtEl>
                                <p:spTgt spid="50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1" presetID="10" presetClass="entr" presetSubtype="0" fill="hold" grpId="0" nodeType="clickEffect">
                        <p:stCondLst>
                          <p:cond delay="1050"/>
                        </p:stCondLst>
                        <p:childTnLst>
                          <p:animEffect transition="in" filter="fade">
                            <p:cBhvr>
                              <p:cTn id="52" dur="700" fill="hold"/>
                              <p:tgtEl>
                                <p:spTgt spid="5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3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54" dur="700" fill="hold"/>
                              <p:tgtEl>
                                <p:spTgt spid="5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5" presetID="10" presetClass="entr" presetSubtype="0" fill="hold" grpId="0" nodeType="clickEffect">
                        <p:stCondLst>
                          <p:cond delay="1350"/>
                        </p:stCondLst>
                        <p:childTnLst>
                          <p:animEffect transition="in" filter="fade">
                            <p:cBhvr>
                              <p:cTn id="56" dur="700" fill="hold"/>
                              <p:tgtEl>
                                <p:spTgt spid="5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7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58" dur="700" fill="hold"/>
                              <p:tgtEl>
                                <p:spTgt spid="5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59" presetID="2" presetClass="entr" presetSubtype="8" fill="hold" grpId="0" nodeType="clickEffect">
                        <p:stCondLst>
                          <p:cond delay="800"/>
                        </p:stCondLst>
                        <p:childTnLst>
                          <p:animEffect transition="in" filter="fly">
                            <p:cBhvr>
                              <p:cTn id="60" dur="600" fill="hold"/>
                              <p:tgtEl>
                                <p:spTgt spid="5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61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62" dur="700" fill="hold"/>
                              <p:tgtEl>
                                <p:spTgt spid="62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63" presetID="10" presetClass="entr" presetSubtype="0" fill="hold" grpId="0" nodeType="clickEffect">
                        <p:stCondLst>
                          <p:cond delay="1050"/>
                        </p:stCondLst>
                        <p:childTnLst>
                          <p:animEffect transition="in" filter="fade">
                            <p:cBhvr>
                              <p:cTn id="64" dur="700" fill="hold"/>
                              <p:tgtEl>
                                <p:spTgt spid="6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65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66" dur="700" fill="hold"/>
                              <p:tgtEl>
                                <p:spTgt spid="6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67" presetID="10" presetClass="entr" presetSubtype="0" fill="hold" grpId="0" nodeType="clickEffect">
                        <p:stCondLst>
                          <p:cond delay="1350"/>
                        </p:stCondLst>
                        <p:childTnLst>
                          <p:animEffect transition="in" filter="fade">
                            <p:cBhvr>
                              <p:cTn id="68" dur="700" fill="hold"/>
                              <p:tgtEl>
                                <p:spTgt spid="6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69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70" dur="700" fill="hold"/>
                              <p:tgtEl>
                                <p:spTgt spid="6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71" presetID="22" presetClass="entr" presetSubtype="0" fill="hold" grpId="0" nodeType="clickEffect">
                        <p:stCondLst>
                          <p:cond delay="850"/>
                        </p:stCondLst>
                        <p:childTnLst>
                          <p:animEffect transition="in" filter="zoom">
                            <p:cBhvr>
                              <p:cTn id="72" dur="500" fill="hold"/>
                              <p:tgtEl>
                                <p:spTgt spid="7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73" presetID="22" presetClass="entr" presetSubtype="0" fill="hold" grpId="0" nodeType="clickEffect">
                        <p:stCondLst>
                          <p:cond delay="850"/>
                        </p:stCondLst>
                        <p:childTnLst>
                          <p:animEffect transition="in" filter="zoom">
                            <p:cBhvr>
                              <p:cTn id="74" dur="500" fill="hold"/>
                              <p:tgtEl>
                                <p:spTgt spid="73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60e20"/>
              </a:gs>
              <a:gs pos="100000">
                <a:srgbClr val="0c1e4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0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14800" y="3108960"/>
            <a:ext cx="39593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Main Reasons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6E8"/>
                </a:solidFill>
                <a:latin typeface="Segoe UI"/>
              </a:rPr>
              <a:t>Why Urban Youth Choose European Football Over BPL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75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76" dur="700" fill="hold"/>
                              <p:tgtEl>
                                <p:spTgt spid="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77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78" dur="700" fill="hold"/>
                              <p:tgtEl>
                                <p:spTgt spid="7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79" presetID="10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fade">
                            <p:cBhvr>
                              <p:cTn id="80" dur="700" fill="hold"/>
                              <p:tgtEl>
                                <p:spTgt spid="7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81" presetID="22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zoom">
                            <p:cBhvr>
                              <p:cTn id="82" dur="500" fill="hold"/>
                              <p:tgtEl>
                                <p:spTgt spid="8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83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84" dur="700" fill="hold"/>
                              <p:tgtEl>
                                <p:spTgt spid="83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Why Youth Prefer European Football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Segoe UI"/>
              </a:rPr>
              <a:t>Key factors driving youth engagement with European clubs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1490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Segoe UI"/>
              </a:rPr>
              <a:t>Better Quality Football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18745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High-level skills, tactics &amp; competitive matches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2404872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24963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71600" y="24780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World-Famous Players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71600" y="2862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Mbappe, Haaland, Vinicius Jr – global icons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3392424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3483864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🎉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71600" y="34655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  <a:latin typeface="Segoe UI"/>
              </a:rPr>
              <a:t>Electric Stadium Atmosphere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71600" y="38496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Chants, fan culture, sold-out arenas worldwide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379976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2920" y="447141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1600" y="44531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00FF"/>
                </a:solidFill>
                <a:latin typeface="Segoe UI"/>
              </a:rPr>
              <a:t>Superior Broadcasting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71600" y="48371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HD telecasts, multiple camera angles, analytics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5760" y="5367528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02920" y="545896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71600" y="5440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  <a:latin typeface="Segoe UI"/>
              </a:rPr>
              <a:t>Global Brand Power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1600" y="5824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Massive merchandise, documentaries &amp; digital reach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85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86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87" presetID="10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fade">
                            <p:cBhvr>
                              <p:cTn id="88" dur="700" fill="hold"/>
                              <p:tgtEl>
                                <p:spTgt spid="8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89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90" dur="600" fill="hold"/>
                              <p:tgtEl>
                                <p:spTgt spid="8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1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92" dur="700" fill="hold"/>
                              <p:tgtEl>
                                <p:spTgt spid="9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3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94" dur="700" fill="hold"/>
                              <p:tgtEl>
                                <p:spTgt spid="9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5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96" dur="700" fill="hold"/>
                              <p:tgtEl>
                                <p:spTgt spid="9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7" presetID="2" presetClass="entr" presetSubtype="8" fill="hold" grpId="0" nodeType="clickEffect">
                        <p:stCondLst>
                          <p:cond delay="500"/>
                        </p:stCondLst>
                        <p:childTnLst>
                          <p:animEffect transition="in" filter="fly">
                            <p:cBhvr>
                              <p:cTn id="98" dur="600" fill="hold"/>
                              <p:tgtEl>
                                <p:spTgt spid="9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99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100" dur="700" fill="hold"/>
                              <p:tgtEl>
                                <p:spTgt spid="9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01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102" dur="700" fill="hold"/>
                              <p:tgtEl>
                                <p:spTgt spid="10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03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104" dur="700" fill="hold"/>
                              <p:tgtEl>
                                <p:spTgt spid="10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05" presetID="2" presetClass="entr" presetSubtype="8" fill="hold" grpId="0" nodeType="clickEffect">
                        <p:stCondLst>
                          <p:cond delay="700"/>
                        </p:stCondLst>
                        <p:childTnLst>
                          <p:animEffect transition="in" filter="fly">
                            <p:cBhvr>
                              <p:cTn id="106" dur="600" fill="hold"/>
                              <p:tgtEl>
                                <p:spTgt spid="10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0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108" dur="700" fill="hold"/>
                              <p:tgtEl>
                                <p:spTgt spid="10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09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110" dur="700" fill="hold"/>
                              <p:tgtEl>
                                <p:spTgt spid="10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1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112" dur="700" fill="hold"/>
                              <p:tgtEl>
                                <p:spTgt spid="11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3" presetID="2" presetClass="entr" presetSubtype="8" fill="hold" grpId="0" nodeType="clickEffect">
                        <p:stCondLst>
                          <p:cond delay="900"/>
                        </p:stCondLst>
                        <p:childTnLst>
                          <p:animEffect transition="in" filter="fly">
                            <p:cBhvr>
                              <p:cTn id="114" dur="600" fill="hold"/>
                              <p:tgtEl>
                                <p:spTgt spid="11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5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116" dur="700" fill="hold"/>
                              <p:tgtEl>
                                <p:spTgt spid="11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7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118" dur="700" fill="hold"/>
                              <p:tgtEl>
                                <p:spTgt spid="11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19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120" dur="700" fill="hold"/>
                              <p:tgtEl>
                                <p:spTgt spid="11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21" presetID="2" presetClass="entr" presetSubtype="8" fill="hold" grpId="0" nodeType="clickEffect">
                        <p:stCondLst>
                          <p:cond delay="1100"/>
                        </p:stCondLst>
                        <p:childTnLst>
                          <p:animEffect transition="in" filter="fly">
                            <p:cBhvr>
                              <p:cTn id="122" dur="600" fill="hold"/>
                              <p:tgtEl>
                                <p:spTgt spid="12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23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124" dur="700" fill="hold"/>
                              <p:tgtEl>
                                <p:spTgt spid="12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25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126" dur="700" fill="hold"/>
                              <p:tgtEl>
                                <p:spTgt spid="12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27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128" dur="700" fill="hold"/>
                              <p:tgtEl>
                                <p:spTgt spid="127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Why Bangladesh Premier League Struggles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Segoe UI"/>
              </a:rPr>
              <a:t>Core problems holding back BPL's growth &amp; popularity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292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📣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71600" y="1490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  <a:latin typeface="Segoe UI"/>
              </a:rPr>
              <a:t>Poor Marketing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71600" y="187451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No aggressive campaigns; clubs unknown outside hardcore fans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2404872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02920" y="24963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📡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71600" y="2478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700"/>
                </a:solidFill>
                <a:latin typeface="Segoe UI"/>
              </a:rPr>
              <a:t>Weak Broadcasting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71600" y="28620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Low-quality streams, no international coverage or distribution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760" y="3392424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920" y="3483864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🌟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71600" y="34655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No Star Promotion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0" y="384962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Local players not built into media personalities or heroes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4379976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02920" y="447141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🏟️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71600" y="44531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00FF"/>
                </a:solidFill>
                <a:latin typeface="Segoe UI"/>
              </a:rPr>
              <a:t>Poor Match Experience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371600" y="483717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Uncomfortable stadiums, lack of fan zones &amp; entertainment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65760" y="5367528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02920" y="545896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71600" y="5440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Segoe UI"/>
              </a:rPr>
              <a:t>Lack of Awareness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71600" y="582472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Youth simply don't know fixtures, standings, or club stories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29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130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1" presetID="10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fade">
                            <p:cBhvr>
                              <p:cTn id="132" dur="700" fill="hold"/>
                              <p:tgtEl>
                                <p:spTgt spid="13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3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134" dur="600" fill="hold"/>
                              <p:tgtEl>
                                <p:spTgt spid="13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5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136" dur="700" fill="hold"/>
                              <p:tgtEl>
                                <p:spTgt spid="13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7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138" dur="700" fill="hold"/>
                              <p:tgtEl>
                                <p:spTgt spid="13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39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140" dur="700" fill="hold"/>
                              <p:tgtEl>
                                <p:spTgt spid="13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41" presetID="2" presetClass="entr" presetSubtype="8" fill="hold" grpId="0" nodeType="clickEffect">
                        <p:stCondLst>
                          <p:cond delay="500"/>
                        </p:stCondLst>
                        <p:childTnLst>
                          <p:animEffect transition="in" filter="fly">
                            <p:cBhvr>
                              <p:cTn id="142" dur="600" fill="hold"/>
                              <p:tgtEl>
                                <p:spTgt spid="14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43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144" dur="700" fill="hold"/>
                              <p:tgtEl>
                                <p:spTgt spid="14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45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146" dur="700" fill="hold"/>
                              <p:tgtEl>
                                <p:spTgt spid="14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4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148" dur="700" fill="hold"/>
                              <p:tgtEl>
                                <p:spTgt spid="14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49" presetID="2" presetClass="entr" presetSubtype="8" fill="hold" grpId="0" nodeType="clickEffect">
                        <p:stCondLst>
                          <p:cond delay="700"/>
                        </p:stCondLst>
                        <p:childTnLst>
                          <p:animEffect transition="in" filter="fly">
                            <p:cBhvr>
                              <p:cTn id="150" dur="600" fill="hold"/>
                              <p:tgtEl>
                                <p:spTgt spid="14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1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152" dur="700" fill="hold"/>
                              <p:tgtEl>
                                <p:spTgt spid="15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3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154" dur="700" fill="hold"/>
                              <p:tgtEl>
                                <p:spTgt spid="15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5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156" dur="700" fill="hold"/>
                              <p:tgtEl>
                                <p:spTgt spid="15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7" presetID="2" presetClass="entr" presetSubtype="8" fill="hold" grpId="0" nodeType="clickEffect">
                        <p:stCondLst>
                          <p:cond delay="900"/>
                        </p:stCondLst>
                        <p:childTnLst>
                          <p:animEffect transition="in" filter="fly">
                            <p:cBhvr>
                              <p:cTn id="158" dur="600" fill="hold"/>
                              <p:tgtEl>
                                <p:spTgt spid="15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59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160" dur="700" fill="hold"/>
                              <p:tgtEl>
                                <p:spTgt spid="15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61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162" dur="700" fill="hold"/>
                              <p:tgtEl>
                                <p:spTgt spid="16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63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164" dur="700" fill="hold"/>
                              <p:tgtEl>
                                <p:spTgt spid="16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65" presetID="2" presetClass="entr" presetSubtype="8" fill="hold" grpId="0" nodeType="clickEffect">
                        <p:stCondLst>
                          <p:cond delay="1100"/>
                        </p:stCondLst>
                        <p:childTnLst>
                          <p:animEffect transition="in" filter="fly">
                            <p:cBhvr>
                              <p:cTn id="166" dur="600" fill="hold"/>
                              <p:tgtEl>
                                <p:spTgt spid="16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67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168" dur="700" fill="hold"/>
                              <p:tgtEl>
                                <p:spTgt spid="16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69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170" dur="700" fill="hold"/>
                              <p:tgtEl>
                                <p:spTgt spid="16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71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172" dur="700" fill="hold"/>
                              <p:tgtEl>
                                <p:spTgt spid="171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60e20"/>
              </a:gs>
              <a:gs pos="100000">
                <a:srgbClr val="0c1e4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0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114800" y="3108960"/>
            <a:ext cx="39593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Digital Media &amp; Fan Psychology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6E8"/>
                </a:solidFill>
                <a:latin typeface="Segoe UI"/>
              </a:rPr>
              <a:t>How Online Platforms Shape Football Preferences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73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174" dur="700" fill="hold"/>
                              <p:tgtEl>
                                <p:spTgt spid="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75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176" dur="700" fill="hold"/>
                              <p:tgtEl>
                                <p:spTgt spid="17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77" presetID="10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fade">
                            <p:cBhvr>
                              <p:cTn id="178" dur="700" fill="hold"/>
                              <p:tgtEl>
                                <p:spTgt spid="17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79" presetID="22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zoom">
                            <p:cBhvr>
                              <p:cTn id="180" dur="500" fill="hold"/>
                              <p:tgtEl>
                                <p:spTgt spid="17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81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182" dur="700" fill="hold"/>
                              <p:tgtEl>
                                <p:spTgt spid="181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Social Media Influence on Football Preference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40080" y="1097280"/>
            <a:ext cx="1645920" cy="1645920"/>
          </a:xfrm>
          <a:prstGeom prst="rect">
            <a:avLst/>
          </a:prstGeom>
          <a:solidFill>
            <a:srgbClr val="10182E"/>
          </a:solidFill>
          <a:ln w="25400">
            <a:solidFill>
              <a:srgbClr val="E13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4008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📷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008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1306C"/>
                </a:solidFill>
                <a:latin typeface="Segoe UI"/>
              </a:rPr>
              <a:t>Instagram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834639" y="1097280"/>
            <a:ext cx="1645920" cy="1645920"/>
          </a:xfrm>
          <a:prstGeom prst="rect">
            <a:avLst/>
          </a:prstGeom>
          <a:solidFill>
            <a:srgbClr val="10182E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834639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📘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834639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FF"/>
                </a:solidFill>
                <a:latin typeface="Segoe UI"/>
              </a:rPr>
              <a:t>Facebook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29200" y="1097280"/>
            <a:ext cx="1645920" cy="1645920"/>
          </a:xfrm>
          <a:prstGeom prst="rect">
            <a:avLst/>
          </a:prstGeom>
          <a:solidFill>
            <a:srgbClr val="10182E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029200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02920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2EA"/>
                </a:solidFill>
                <a:latin typeface="Segoe UI"/>
              </a:rPr>
              <a:t>TikTok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223759" y="1097280"/>
            <a:ext cx="1645920" cy="1645920"/>
          </a:xfrm>
          <a:prstGeom prst="rect">
            <a:avLst/>
          </a:prstGeom>
          <a:solidFill>
            <a:srgbClr val="10182E"/>
          </a:solidFill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223759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▶️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23759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744"/>
                </a:solidFill>
                <a:latin typeface="Segoe UI"/>
              </a:rPr>
              <a:t>YouTube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418319" y="1097280"/>
            <a:ext cx="1645920" cy="1645920"/>
          </a:xfrm>
          <a:prstGeom prst="rect">
            <a:avLst/>
          </a:prstGeom>
          <a:solidFill>
            <a:srgbClr val="1018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418319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🐦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418319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X (Twitter)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7200" y="3017520"/>
            <a:ext cx="11274552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5720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53"/>
                </a:solidFill>
                <a:latin typeface="Segoe UI"/>
              </a:rPr>
              <a:t>🌍  European Clubs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57200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📈  Daily Content Uploads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57200" y="42519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🎬  Reels, Shorts &amp; Highlights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57200" y="47548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💬  Millions of Comments &amp; Shares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57200" y="5257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🌐  Global Viral Campaigns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5720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⚡  Real-time Engagement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744"/>
                </a:solidFill>
                <a:latin typeface="Segoe UI"/>
              </a:rPr>
              <a:t>🇧🇩  Bangladesh Clubs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0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📉  Limited Content Output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400800" y="42519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😴  Outdated Posts &amp; Graphics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400800" y="47548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🔇  Almost No Online Presence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400800" y="5257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🚫  No Viral Campaigns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40080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❄️  Very Low Fan Interaction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486400" y="3840480"/>
            <a:ext cx="1216152" cy="1216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5486400" y="3931920"/>
            <a:ext cx="1216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1A"/>
                </a:solidFill>
                <a:latin typeface="Segoe UI"/>
              </a:rPr>
              <a:t>VS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83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184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85" presetID="22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zoom">
                            <p:cBhvr>
                              <p:cTn id="186" dur="500" fill="hold"/>
                              <p:tgtEl>
                                <p:spTgt spid="18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87" presetID="22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zoom">
                            <p:cBhvr>
                              <p:cTn id="188" dur="500" fill="hold"/>
                              <p:tgtEl>
                                <p:spTgt spid="18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89" presetID="10" presetClass="entr" presetSubtype="0" fill="hold" grpId="0" nodeType="clickEffect">
                        <p:stCondLst>
                          <p:cond delay="350"/>
                        </p:stCondLst>
                        <p:childTnLst>
                          <p:animEffect transition="in" filter="fade">
                            <p:cBhvr>
                              <p:cTn id="190" dur="700" fill="hold"/>
                              <p:tgtEl>
                                <p:spTgt spid="18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1" presetID="22" presetClass="entr" presetSubtype="0" fill="hold" grpId="0" nodeType="clickEffect">
                        <p:stCondLst>
                          <p:cond delay="350"/>
                        </p:stCondLst>
                        <p:childTnLst>
                          <p:animEffect transition="in" filter="zoom">
                            <p:cBhvr>
                              <p:cTn id="192" dur="500" fill="hold"/>
                              <p:tgtEl>
                                <p:spTgt spid="19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3" presetID="22" presetClass="entr" presetSubtype="0" fill="hold" grpId="0" nodeType="clickEffect">
                        <p:stCondLst>
                          <p:cond delay="350"/>
                        </p:stCondLst>
                        <p:childTnLst>
                          <p:animEffect transition="in" filter="zoom">
                            <p:cBhvr>
                              <p:cTn id="194" dur="500" fill="hold"/>
                              <p:tgtEl>
                                <p:spTgt spid="19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5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196" dur="700" fill="hold"/>
                              <p:tgtEl>
                                <p:spTgt spid="19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7" presetID="22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zoom">
                            <p:cBhvr>
                              <p:cTn id="198" dur="500" fill="hold"/>
                              <p:tgtEl>
                                <p:spTgt spid="19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199" presetID="22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zoom">
                            <p:cBhvr>
                              <p:cTn id="200" dur="500" fill="hold"/>
                              <p:tgtEl>
                                <p:spTgt spid="19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01" presetID="10" presetClass="entr" presetSubtype="0" fill="hold" grpId="0" nodeType="clickEffect">
                        <p:stCondLst>
                          <p:cond delay="650"/>
                        </p:stCondLst>
                        <p:childTnLst>
                          <p:animEffect transition="in" filter="fade">
                            <p:cBhvr>
                              <p:cTn id="202" dur="700" fill="hold"/>
                              <p:tgtEl>
                                <p:spTgt spid="20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03" presetID="22" presetClass="entr" presetSubtype="0" fill="hold" grpId="0" nodeType="clickEffect">
                        <p:stCondLst>
                          <p:cond delay="650"/>
                        </p:stCondLst>
                        <p:childTnLst>
                          <p:animEffect transition="in" filter="zoom">
                            <p:cBhvr>
                              <p:cTn id="204" dur="500" fill="hold"/>
                              <p:tgtEl>
                                <p:spTgt spid="20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05" presetID="22" presetClass="entr" presetSubtype="0" fill="hold" grpId="0" nodeType="clickEffect">
                        <p:stCondLst>
                          <p:cond delay="650"/>
                        </p:stCondLst>
                        <p:childTnLst>
                          <p:animEffect transition="in" filter="zoom">
                            <p:cBhvr>
                              <p:cTn id="206" dur="500" fill="hold"/>
                              <p:tgtEl>
                                <p:spTgt spid="20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0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208" dur="700" fill="hold"/>
                              <p:tgtEl>
                                <p:spTgt spid="20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09" presetID="22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zoom">
                            <p:cBhvr>
                              <p:cTn id="210" dur="500" fill="hold"/>
                              <p:tgtEl>
                                <p:spTgt spid="20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1" presetID="22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zoom">
                            <p:cBhvr>
                              <p:cTn id="212" dur="500" fill="hold"/>
                              <p:tgtEl>
                                <p:spTgt spid="21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3" presetID="10" presetClass="entr" presetSubtype="0" fill="hold" grpId="0" nodeType="clickEffect">
                        <p:stCondLst>
                          <p:cond delay="950"/>
                        </p:stCondLst>
                        <p:childTnLst>
                          <p:animEffect transition="in" filter="fade">
                            <p:cBhvr>
                              <p:cTn id="214" dur="700" fill="hold"/>
                              <p:tgtEl>
                                <p:spTgt spid="21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5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216" dur="700" fill="hold"/>
                              <p:tgtEl>
                                <p:spTgt spid="21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7" presetID="2" presetClass="entr" presetSubtype="8" fill="hold" grpId="0" nodeType="clickEffect">
                        <p:stCondLst>
                          <p:cond delay="1100"/>
                        </p:stCondLst>
                        <p:childTnLst>
                          <p:animEffect transition="in" filter="fly">
                            <p:cBhvr>
                              <p:cTn id="218" dur="600" fill="hold"/>
                              <p:tgtEl>
                                <p:spTgt spid="21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19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220" dur="700" fill="hold"/>
                              <p:tgtEl>
                                <p:spTgt spid="21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21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222" dur="700" fill="hold"/>
                              <p:tgtEl>
                                <p:spTgt spid="22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23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224" dur="700" fill="hold"/>
                              <p:tgtEl>
                                <p:spTgt spid="22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25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226" dur="700" fill="hold"/>
                              <p:tgtEl>
                                <p:spTgt spid="22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27" presetID="10" presetClass="entr" presetSubtype="0" fill="hold" grpId="0" nodeType="clickEffect">
                        <p:stCondLst>
                          <p:cond delay="1600"/>
                        </p:stCondLst>
                        <p:childTnLst>
                          <p:animEffect transition="in" filter="fade">
                            <p:cBhvr>
                              <p:cTn id="228" dur="700" fill="hold"/>
                              <p:tgtEl>
                                <p:spTgt spid="22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29" presetID="2" presetClass="entr" presetSubtype="8" fill="hold" grpId="0" nodeType="clickEffect">
                        <p:stCondLst>
                          <p:cond delay="1100"/>
                        </p:stCondLst>
                        <p:childTnLst>
                          <p:animEffect transition="in" filter="fly">
                            <p:cBhvr>
                              <p:cTn id="230" dur="600" fill="hold"/>
                              <p:tgtEl>
                                <p:spTgt spid="22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1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232" dur="700" fill="hold"/>
                              <p:tgtEl>
                                <p:spTgt spid="23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3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234" dur="700" fill="hold"/>
                              <p:tgtEl>
                                <p:spTgt spid="23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5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236" dur="700" fill="hold"/>
                              <p:tgtEl>
                                <p:spTgt spid="23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7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238" dur="700" fill="hold"/>
                              <p:tgtEl>
                                <p:spTgt spid="23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39" presetID="10" presetClass="entr" presetSubtype="0" fill="hold" grpId="0" nodeType="clickEffect">
                        <p:stCondLst>
                          <p:cond delay="1600"/>
                        </p:stCondLst>
                        <p:childTnLst>
                          <p:animEffect transition="in" filter="fade">
                            <p:cBhvr>
                              <p:cTn id="240" dur="700" fill="hold"/>
                              <p:tgtEl>
                                <p:spTgt spid="23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41" presetID="22" presetClass="entr" presetSubtype="0" fill="hold" grpId="0" nodeType="clickEffect">
                        <p:stCondLst>
                          <p:cond delay="1150"/>
                        </p:stCondLst>
                        <p:childTnLst>
                          <p:animEffect transition="in" filter="zoom">
                            <p:cBhvr>
                              <p:cTn id="242" dur="500" fill="hold"/>
                              <p:tgtEl>
                                <p:spTgt spid="241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Fan Psychology: What Drives People to Support a Club?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Segoe UI"/>
              </a:rPr>
              <a:t>Understanding what fans truly seek in football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65760" y="1371600"/>
            <a:ext cx="5303520" cy="2468880"/>
          </a:xfrm>
          <a:prstGeom prst="rect">
            <a:avLst/>
          </a:prstGeom>
          <a:solidFill>
            <a:srgbClr val="1018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02920" y="14630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55448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Heroes &amp; Role Models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4864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Fans follow players they admire &amp; aspire to be like.
Bangladesh needs local football heroes.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400800" y="1371600"/>
            <a:ext cx="5303520" cy="2468880"/>
          </a:xfrm>
          <a:prstGeom prst="rect">
            <a:avLst/>
          </a:prstGeom>
          <a:solidFill>
            <a:srgbClr val="10182E"/>
          </a:solidFill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537960" y="14630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Segoe UI"/>
              </a:rPr>
              <a:t>❤️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58952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  <a:latin typeface="Segoe UI"/>
              </a:rPr>
              <a:t>Emotional Connection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58368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Club identity, city pride &amp; community create belonging.
BPL clubs lack strong fan identities.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365760" y="3657600"/>
            <a:ext cx="5303520" cy="2468880"/>
          </a:xfrm>
          <a:prstGeom prst="rect">
            <a:avLst/>
          </a:prstGeom>
          <a:solidFill>
            <a:srgbClr val="10182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02920" y="374903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Segoe UI"/>
              </a:rPr>
              <a:t>🏆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554480" y="3794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  <a:latin typeface="Segoe UI"/>
              </a:rPr>
              <a:t>Winning Culture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4864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People love to associate with winners &amp; champions.
European clubs have trophies &amp; history.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400800" y="3657600"/>
            <a:ext cx="5303520" cy="2468880"/>
          </a:xfrm>
          <a:prstGeom prst="rect">
            <a:avLst/>
          </a:prstGeom>
          <a:solidFill>
            <a:srgbClr val="10182E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537960" y="374903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589520" y="3794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Segoe UI"/>
              </a:rPr>
              <a:t>Entertainment Value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58368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Football must compete with Netflix, gaming &amp; YouTube.
BPL needs to be more thrilling &amp; accessible.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43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244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45" presetID="10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fade">
                            <p:cBhvr>
                              <p:cTn id="246" dur="700" fill="hold"/>
                              <p:tgtEl>
                                <p:spTgt spid="24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47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248" dur="600" fill="hold"/>
                              <p:tgtEl>
                                <p:spTgt spid="24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49" presetID="22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zoom">
                            <p:cBhvr>
                              <p:cTn id="250" dur="500" fill="hold"/>
                              <p:tgtEl>
                                <p:spTgt spid="24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1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252" dur="700" fill="hold"/>
                              <p:tgtEl>
                                <p:spTgt spid="25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3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254" dur="700" fill="hold"/>
                              <p:tgtEl>
                                <p:spTgt spid="25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5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256" dur="600" fill="hold"/>
                              <p:tgtEl>
                                <p:spTgt spid="25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7" presetID="22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zoom">
                            <p:cBhvr>
                              <p:cTn id="258" dur="500" fill="hold"/>
                              <p:tgtEl>
                                <p:spTgt spid="25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59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260" dur="700" fill="hold"/>
                              <p:tgtEl>
                                <p:spTgt spid="25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61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262" dur="700" fill="hold"/>
                              <p:tgtEl>
                                <p:spTgt spid="26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63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264" dur="600" fill="hold"/>
                              <p:tgtEl>
                                <p:spTgt spid="26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65" presetID="22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zoom">
                            <p:cBhvr>
                              <p:cTn id="266" dur="500" fill="hold"/>
                              <p:tgtEl>
                                <p:spTgt spid="26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67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268" dur="700" fill="hold"/>
                              <p:tgtEl>
                                <p:spTgt spid="26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69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270" dur="700" fill="hold"/>
                              <p:tgtEl>
                                <p:spTgt spid="26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71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272" dur="600" fill="hold"/>
                              <p:tgtEl>
                                <p:spTgt spid="27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73" presetID="22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zoom">
                            <p:cBhvr>
                              <p:cTn id="274" dur="500" fill="hold"/>
                              <p:tgtEl>
                                <p:spTgt spid="27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75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276" dur="700" fill="hold"/>
                              <p:tgtEl>
                                <p:spTgt spid="27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77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278" dur="700" fill="hold"/>
                              <p:tgtEl>
                                <p:spTgt spid="277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60e20"/>
              </a:gs>
              <a:gs pos="100000">
                <a:srgbClr val="0c1e4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0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4114800" y="3108960"/>
            <a:ext cx="3959352" cy="54864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Financial &amp; Structural Challenges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6E8"/>
                </a:solidFill>
                <a:latin typeface="Segoe UI"/>
              </a:rPr>
              <a:t>Deep-Rooted Problems in BPL Organization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79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280" dur="700" fill="hold"/>
                              <p:tgtEl>
                                <p:spTgt spid="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81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282" dur="700" fill="hold"/>
                              <p:tgtEl>
                                <p:spTgt spid="28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83" presetID="10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fade">
                            <p:cBhvr>
                              <p:cTn id="284" dur="700" fill="hold"/>
                              <p:tgtEl>
                                <p:spTgt spid="28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85" presetID="22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zoom">
                            <p:cBhvr>
                              <p:cTn id="286" dur="500" fill="hold"/>
                              <p:tgtEl>
                                <p:spTgt spid="28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87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288" dur="700" fill="hold"/>
                              <p:tgtEl>
                                <p:spTgt spid="287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Financial Challenges: A Vicious Cycle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914400" y="118872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05840" y="12801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82880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Low Revenue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8404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→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4389120" y="118872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480559" y="12801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📉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30352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700"/>
                </a:solidFill>
                <a:latin typeface="Segoe UI"/>
              </a:rPr>
              <a:t>Less Investment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3152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→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7863840" y="118872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955279" y="12801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🏚️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77824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Segoe UI"/>
              </a:rPr>
              <a:t>Poor Facilities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9144000" y="256032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↓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14400" y="411480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AA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05840" y="42062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⬇️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828800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ACC00"/>
                </a:solidFill>
                <a:latin typeface="Segoe UI"/>
              </a:rPr>
              <a:t>Lower Quality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6576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←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389120" y="411480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480559" y="42062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👎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303520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Less Audience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384048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←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7863840" y="4114800"/>
            <a:ext cx="2926080" cy="1371600"/>
          </a:xfrm>
          <a:prstGeom prst="rect">
            <a:avLst/>
          </a:prstGeom>
          <a:solidFill>
            <a:srgbClr val="10182E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7955279" y="42062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778240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FF"/>
                </a:solidFill>
                <a:latin typeface="Segoe UI"/>
              </a:rPr>
              <a:t>Again Low Revenue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Segoe UI"/>
              </a:rPr>
              <a:t>🔄  This cycle repeats — breaking it requires bold structural reform!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89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290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1" presetID="22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zoom">
                            <p:cBhvr>
                              <p:cTn id="292" dur="500" fill="hold"/>
                              <p:tgtEl>
                                <p:spTgt spid="29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3" presetID="10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fade">
                            <p:cBhvr>
                              <p:cTn id="294" dur="700" fill="hold"/>
                              <p:tgtEl>
                                <p:spTgt spid="29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5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296" dur="700" fill="hold"/>
                              <p:tgtEl>
                                <p:spTgt spid="29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7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298" dur="700" fill="hold"/>
                              <p:tgtEl>
                                <p:spTgt spid="29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299" presetID="22" presetClass="entr" presetSubtype="0" fill="hold" grpId="0" nodeType="clickEffect">
                        <p:stCondLst>
                          <p:cond delay="450"/>
                        </p:stCondLst>
                        <p:childTnLst>
                          <p:animEffect transition="in" filter="zoom">
                            <p:cBhvr>
                              <p:cTn id="300" dur="500" fill="hold"/>
                              <p:tgtEl>
                                <p:spTgt spid="29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01" presetID="10" presetClass="entr" presetSubtype="0" fill="hold" grpId="0" nodeType="clickEffect">
                        <p:stCondLst>
                          <p:cond delay="550"/>
                        </p:stCondLst>
                        <p:childTnLst>
                          <p:animEffect transition="in" filter="fade">
                            <p:cBhvr>
                              <p:cTn id="302" dur="700" fill="hold"/>
                              <p:tgtEl>
                                <p:spTgt spid="30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03" presetID="10" presetClass="entr" presetSubtype="0" fill="hold" grpId="0" nodeType="clickEffect">
                        <p:stCondLst>
                          <p:cond delay="650"/>
                        </p:stCondLst>
                        <p:childTnLst>
                          <p:animEffect transition="in" filter="fade">
                            <p:cBhvr>
                              <p:cTn id="304" dur="700" fill="hold"/>
                              <p:tgtEl>
                                <p:spTgt spid="30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05" presetID="10" presetClass="entr" presetSubtype="0" fill="hold" grpId="0" nodeType="clickEffect">
                        <p:stCondLst>
                          <p:cond delay="750"/>
                        </p:stCondLst>
                        <p:childTnLst>
                          <p:animEffect transition="in" filter="fade">
                            <p:cBhvr>
                              <p:cTn id="306" dur="700" fill="hold"/>
                              <p:tgtEl>
                                <p:spTgt spid="30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07" presetID="22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zoom">
                            <p:cBhvr>
                              <p:cTn id="308" dur="500" fill="hold"/>
                              <p:tgtEl>
                                <p:spTgt spid="30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09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310" dur="700" fill="hold"/>
                              <p:tgtEl>
                                <p:spTgt spid="30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1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312" dur="700" fill="hold"/>
                              <p:tgtEl>
                                <p:spTgt spid="31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3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314" dur="700" fill="hold"/>
                              <p:tgtEl>
                                <p:spTgt spid="31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5" presetID="22" presetClass="entr" presetSubtype="0" fill="hold" grpId="0" nodeType="clickEffect">
                        <p:stCondLst>
                          <p:cond delay="950"/>
                        </p:stCondLst>
                        <p:childTnLst>
                          <p:animEffect transition="in" filter="zoom">
                            <p:cBhvr>
                              <p:cTn id="316" dur="500" fill="hold"/>
                              <p:tgtEl>
                                <p:spTgt spid="31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7" presetID="10" presetClass="entr" presetSubtype="0" fill="hold" grpId="0" nodeType="clickEffect">
                        <p:stCondLst>
                          <p:cond delay="1050"/>
                        </p:stCondLst>
                        <p:childTnLst>
                          <p:animEffect transition="in" filter="fade">
                            <p:cBhvr>
                              <p:cTn id="318" dur="700" fill="hold"/>
                              <p:tgtEl>
                                <p:spTgt spid="31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19" presetID="10" presetClass="entr" presetSubtype="0" fill="hold" grpId="0" nodeType="clickEffect">
                        <p:stCondLst>
                          <p:cond delay="1150"/>
                        </p:stCondLst>
                        <p:childTnLst>
                          <p:animEffect transition="in" filter="fade">
                            <p:cBhvr>
                              <p:cTn id="320" dur="700" fill="hold"/>
                              <p:tgtEl>
                                <p:spTgt spid="31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21" presetID="10" presetClass="entr" presetSubtype="0" fill="hold" grpId="0" nodeType="clickEffect">
                        <p:stCondLst>
                          <p:cond delay="1250"/>
                        </p:stCondLst>
                        <p:childTnLst>
                          <p:animEffect transition="in" filter="fade">
                            <p:cBhvr>
                              <p:cTn id="322" dur="700" fill="hold"/>
                              <p:tgtEl>
                                <p:spTgt spid="32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23" presetID="22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zoom">
                            <p:cBhvr>
                              <p:cTn id="324" dur="500" fill="hold"/>
                              <p:tgtEl>
                                <p:spTgt spid="32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25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326" dur="700" fill="hold"/>
                              <p:tgtEl>
                                <p:spTgt spid="32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27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328" dur="700" fill="hold"/>
                              <p:tgtEl>
                                <p:spTgt spid="32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29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330" dur="700" fill="hold"/>
                              <p:tgtEl>
                                <p:spTgt spid="32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31" presetID="22" presetClass="entr" presetSubtype="0" fill="hold" grpId="0" nodeType="clickEffect">
                        <p:stCondLst>
                          <p:cond delay="1450"/>
                        </p:stCondLst>
                        <p:childTnLst>
                          <p:animEffect transition="in" filter="zoom">
                            <p:cBhvr>
                              <p:cTn id="332" dur="500" fill="hold"/>
                              <p:tgtEl>
                                <p:spTgt spid="33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33" presetID="10" presetClass="entr" presetSubtype="0" fill="hold" grpId="0" nodeType="clickEffect">
                        <p:stCondLst>
                          <p:cond delay="1550"/>
                        </p:stCondLst>
                        <p:childTnLst>
                          <p:animEffect transition="in" filter="fade">
                            <p:cBhvr>
                              <p:cTn id="334" dur="700" fill="hold"/>
                              <p:tgtEl>
                                <p:spTgt spid="33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35" presetID="10" presetClass="entr" presetSubtype="0" fill="hold" grpId="0" nodeType="clickEffect">
                        <p:stCondLst>
                          <p:cond delay="1650"/>
                        </p:stCondLst>
                        <p:childTnLst>
                          <p:animEffect transition="in" filter="fade">
                            <p:cBhvr>
                              <p:cTn id="336" dur="700" fill="hold"/>
                              <p:tgtEl>
                                <p:spTgt spid="33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37" presetID="10" presetClass="entr" presetSubtype="0" fill="hold" grpId="0" nodeType="clickEffect">
                        <p:stCondLst>
                          <p:cond delay="1800"/>
                        </p:stCondLst>
                        <p:childTnLst>
                          <p:animEffect transition="in" filter="fade">
                            <p:cBhvr>
                              <p:cTn id="338" dur="700" fill="hold"/>
                              <p:tgtEl>
                                <p:spTgt spid="337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Management Challenges Holding BPL Back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Segoe UI"/>
              </a:rPr>
              <a:t>Structural reforms are needed at every level of the league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0292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3716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700"/>
                </a:solidFill>
                <a:latin typeface="Segoe UI"/>
              </a:rPr>
              <a:t>League Management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846320" y="16459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Professional league governance &amp; transparent operations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365760" y="2404872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502920" y="24963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📅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371600" y="24780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Match Scheduling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4846320" y="263347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Consistent, well-planned fixtures avoiding conflicts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365760" y="3392424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502920" y="3483864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371600" y="34655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  <a:latin typeface="Segoe UI"/>
              </a:rPr>
              <a:t>Sponsorship Deals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4846320" y="3621024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Corporate partnerships to inject capital into clubs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365760" y="4379976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502920" y="447141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🧒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371600" y="4453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Segoe UI"/>
              </a:rPr>
              <a:t>Youth Academies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4846320" y="460857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Long-term player development pipelines for future stars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65760" y="5367528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502920" y="545896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🎨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37160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00FF"/>
                </a:solidFill>
                <a:latin typeface="Segoe UI"/>
              </a:rPr>
              <a:t>Club Branding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4846320" y="559612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Professional logos, kits, identity &amp; fan merchandise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39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340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41" presetID="10" presetClass="entr" presetSubtype="0" fill="hold" grpId="0" nodeType="clickEffect">
                        <p:stCondLst>
                          <p:cond delay="200"/>
                        </p:stCondLst>
                        <p:childTnLst>
                          <p:animEffect transition="in" filter="fade">
                            <p:cBhvr>
                              <p:cTn id="342" dur="700" fill="hold"/>
                              <p:tgtEl>
                                <p:spTgt spid="34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43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344" dur="600" fill="hold"/>
                              <p:tgtEl>
                                <p:spTgt spid="34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45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346" dur="700" fill="hold"/>
                              <p:tgtEl>
                                <p:spTgt spid="34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47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348" dur="700" fill="hold"/>
                              <p:tgtEl>
                                <p:spTgt spid="34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49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350" dur="700" fill="hold"/>
                              <p:tgtEl>
                                <p:spTgt spid="34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51" presetID="2" presetClass="entr" presetSubtype="8" fill="hold" grpId="0" nodeType="clickEffect">
                        <p:stCondLst>
                          <p:cond delay="500"/>
                        </p:stCondLst>
                        <p:childTnLst>
                          <p:animEffect transition="in" filter="fly">
                            <p:cBhvr>
                              <p:cTn id="352" dur="600" fill="hold"/>
                              <p:tgtEl>
                                <p:spTgt spid="35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53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354" dur="700" fill="hold"/>
                              <p:tgtEl>
                                <p:spTgt spid="35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55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356" dur="700" fill="hold"/>
                              <p:tgtEl>
                                <p:spTgt spid="35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5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358" dur="700" fill="hold"/>
                              <p:tgtEl>
                                <p:spTgt spid="35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59" presetID="2" presetClass="entr" presetSubtype="8" fill="hold" grpId="0" nodeType="clickEffect">
                        <p:stCondLst>
                          <p:cond delay="700"/>
                        </p:stCondLst>
                        <p:childTnLst>
                          <p:animEffect transition="in" filter="fly">
                            <p:cBhvr>
                              <p:cTn id="360" dur="600" fill="hold"/>
                              <p:tgtEl>
                                <p:spTgt spid="35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61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362" dur="700" fill="hold"/>
                              <p:tgtEl>
                                <p:spTgt spid="36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63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364" dur="700" fill="hold"/>
                              <p:tgtEl>
                                <p:spTgt spid="36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65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366" dur="700" fill="hold"/>
                              <p:tgtEl>
                                <p:spTgt spid="36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67" presetID="2" presetClass="entr" presetSubtype="8" fill="hold" grpId="0" nodeType="clickEffect">
                        <p:stCondLst>
                          <p:cond delay="900"/>
                        </p:stCondLst>
                        <p:childTnLst>
                          <p:animEffect transition="in" filter="fly">
                            <p:cBhvr>
                              <p:cTn id="368" dur="600" fill="hold"/>
                              <p:tgtEl>
                                <p:spTgt spid="36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69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370" dur="700" fill="hold"/>
                              <p:tgtEl>
                                <p:spTgt spid="36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1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372" dur="700" fill="hold"/>
                              <p:tgtEl>
                                <p:spTgt spid="37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3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374" dur="700" fill="hold"/>
                              <p:tgtEl>
                                <p:spTgt spid="37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5" presetID="2" presetClass="entr" presetSubtype="8" fill="hold" grpId="0" nodeType="clickEffect">
                        <p:stCondLst>
                          <p:cond delay="1100"/>
                        </p:stCondLst>
                        <p:childTnLst>
                          <p:animEffect transition="in" filter="fly">
                            <p:cBhvr>
                              <p:cTn id="376" dur="600" fill="hold"/>
                              <p:tgtEl>
                                <p:spTgt spid="37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7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378" dur="700" fill="hold"/>
                              <p:tgtEl>
                                <p:spTgt spid="37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79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380" dur="700" fill="hold"/>
                              <p:tgtEl>
                                <p:spTgt spid="37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81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382" dur="700" fill="hold"/>
                              <p:tgtEl>
                                <p:spTgt spid="381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60e20"/>
              </a:gs>
              <a:gs pos="100000">
                <a:srgbClr val="0c1e4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0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114800" y="3108960"/>
            <a:ext cx="39593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Solutions &amp; Conclusion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6E8"/>
                </a:solidFill>
                <a:latin typeface="Segoe UI"/>
              </a:rPr>
              <a:t>A Roadmap to Reviving Bangladesh Football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83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384" dur="700" fill="hold"/>
                              <p:tgtEl>
                                <p:spTgt spid="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85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386" dur="700" fill="hold"/>
                              <p:tgtEl>
                                <p:spTgt spid="38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87" presetID="10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fade">
                            <p:cBhvr>
                              <p:cTn id="388" dur="700" fill="hold"/>
                              <p:tgtEl>
                                <p:spTgt spid="38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89" presetID="22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zoom">
                            <p:cBhvr>
                              <p:cTn id="390" dur="500" fill="hold"/>
                              <p:tgtEl>
                                <p:spTgt spid="38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91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392" dur="700" fill="hold"/>
                              <p:tgtEl>
                                <p:spTgt spid="391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4466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How Can Bangladesh Football Improve? 🚀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54864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Segoe UI"/>
              </a:rPr>
              <a:t>✓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09728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📣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920240" y="14904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  <a:latin typeface="Segoe UI"/>
              </a:rPr>
              <a:t>Better Marketing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5577840" y="16459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Run digital campaigns, influencer collaborations &amp; PR drives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365760" y="2404872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548640" y="2633472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Segoe UI"/>
              </a:rPr>
              <a:t>✓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97280" y="24963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🏟️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920240" y="2478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Better Stadium Experience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577840" y="2633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Fan zones, music, food &amp; family-friendly match day events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365760" y="3392424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548640" y="3621024"/>
            <a:ext cx="4114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548640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Segoe UI"/>
              </a:rPr>
              <a:t>✓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97280" y="3483864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920240" y="34655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Segoe UI"/>
              </a:rPr>
              <a:t>Strong Social Media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577840" y="3621024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Daily content, player features, BTS videos &amp; live engagement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365760" y="4379976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548640" y="4608576"/>
            <a:ext cx="411480" cy="41148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548640" y="4581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Segoe UI"/>
              </a:rPr>
              <a:t>✓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097280" y="447141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🏃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920240" y="4453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00FF"/>
                </a:solidFill>
                <a:latin typeface="Segoe UI"/>
              </a:rPr>
              <a:t>Youth Development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5577840" y="4608576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Grassroots football programs, school leagues &amp; academies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365760" y="5367528"/>
            <a:ext cx="11430000" cy="868680"/>
          </a:xfrm>
          <a:prstGeom prst="rect">
            <a:avLst/>
          </a:prstGeom>
          <a:solidFill>
            <a:srgbClr val="10182E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548640" y="5596128"/>
            <a:ext cx="411480" cy="411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548640" y="55686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Segoe UI"/>
              </a:rPr>
              <a:t>✓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097280" y="545896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🎨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920240" y="5440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  <a:latin typeface="Segoe UI"/>
              </a:rPr>
              <a:t>Club Branding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5577840" y="5596128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Build club identity, merchandise, anthems &amp; loyal fan bases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93" presetID="2" presetClass="entr" presetSubtype="8" fill="hold" grpId="0" nodeType="clickEffect">
                        <p:stCondLst>
                          <p:cond delay="0"/>
                        </p:stCondLst>
                        <p:childTnLst>
                          <p:animEffect transition="in" filter="fly">
                            <p:cBhvr>
                              <p:cTn id="394" dur="600" fill="hold"/>
                              <p:tgtEl>
                                <p:spTgt spid="4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95" presetID="2" presetClass="entr" presetSubtype="8" fill="hold" grpId="0" nodeType="clickEffect">
                        <p:stCondLst>
                          <p:cond delay="200"/>
                        </p:stCondLst>
                        <p:childTnLst>
                          <p:animEffect transition="in" filter="fly">
                            <p:cBhvr>
                              <p:cTn id="396" dur="600" fill="hold"/>
                              <p:tgtEl>
                                <p:spTgt spid="39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97" presetID="22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zoom">
                            <p:cBhvr>
                              <p:cTn id="398" dur="500" fill="hold"/>
                              <p:tgtEl>
                                <p:spTgt spid="39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399" presetID="22" presetClass="entr" presetSubtype="0" fill="hold" grpId="0" nodeType="clickEffect">
                        <p:stCondLst>
                          <p:cond delay="300"/>
                        </p:stCondLst>
                        <p:childTnLst>
                          <p:animEffect transition="in" filter="zoom">
                            <p:cBhvr>
                              <p:cTn id="400" dur="500" fill="hold"/>
                              <p:tgtEl>
                                <p:spTgt spid="39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01" presetID="10" presetClass="entr" presetSubtype="0" fill="hold" grpId="0" nodeType="clickEffect">
                        <p:stCondLst>
                          <p:cond delay="400"/>
                        </p:stCondLst>
                        <p:childTnLst>
                          <p:animEffect transition="in" filter="fade">
                            <p:cBhvr>
                              <p:cTn id="402" dur="700" fill="hold"/>
                              <p:tgtEl>
                                <p:spTgt spid="40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03" presetID="10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fade">
                            <p:cBhvr>
                              <p:cTn id="404" dur="700" fill="hold"/>
                              <p:tgtEl>
                                <p:spTgt spid="40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05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406" dur="700" fill="hold"/>
                              <p:tgtEl>
                                <p:spTgt spid="40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07" presetID="2" presetClass="entr" presetSubtype="8" fill="hold" grpId="0" nodeType="clickEffect">
                        <p:stCondLst>
                          <p:cond delay="400"/>
                        </p:stCondLst>
                        <p:childTnLst>
                          <p:animEffect transition="in" filter="fly">
                            <p:cBhvr>
                              <p:cTn id="408" dur="600" fill="hold"/>
                              <p:tgtEl>
                                <p:spTgt spid="40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09" presetID="22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zoom">
                            <p:cBhvr>
                              <p:cTn id="410" dur="500" fill="hold"/>
                              <p:tgtEl>
                                <p:spTgt spid="40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1" presetID="22" presetClass="entr" presetSubtype="0" fill="hold" grpId="0" nodeType="clickEffect">
                        <p:stCondLst>
                          <p:cond delay="500"/>
                        </p:stCondLst>
                        <p:childTnLst>
                          <p:animEffect transition="in" filter="zoom">
                            <p:cBhvr>
                              <p:cTn id="412" dur="500" fill="hold"/>
                              <p:tgtEl>
                                <p:spTgt spid="41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3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animEffect transition="in" filter="fade">
                            <p:cBhvr>
                              <p:cTn id="414" dur="700" fill="hold"/>
                              <p:tgtEl>
                                <p:spTgt spid="41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5" presetID="10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fade">
                            <p:cBhvr>
                              <p:cTn id="416" dur="700" fill="hold"/>
                              <p:tgtEl>
                                <p:spTgt spid="41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418" dur="700" fill="hold"/>
                              <p:tgtEl>
                                <p:spTgt spid="41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19" presetID="2" presetClass="entr" presetSubtype="8" fill="hold" grpId="0" nodeType="clickEffect">
                        <p:stCondLst>
                          <p:cond delay="600"/>
                        </p:stCondLst>
                        <p:childTnLst>
                          <p:animEffect transition="in" filter="fly">
                            <p:cBhvr>
                              <p:cTn id="420" dur="600" fill="hold"/>
                              <p:tgtEl>
                                <p:spTgt spid="41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21" presetID="22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zoom">
                            <p:cBhvr>
                              <p:cTn id="422" dur="500" fill="hold"/>
                              <p:tgtEl>
                                <p:spTgt spid="42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23" presetID="22" presetClass="entr" presetSubtype="0" fill="hold" grpId="0" nodeType="clickEffect">
                        <p:stCondLst>
                          <p:cond delay="700"/>
                        </p:stCondLst>
                        <p:childTnLst>
                          <p:animEffect transition="in" filter="zoom">
                            <p:cBhvr>
                              <p:cTn id="424" dur="500" fill="hold"/>
                              <p:tgtEl>
                                <p:spTgt spid="42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25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animEffect transition="in" filter="fade">
                            <p:cBhvr>
                              <p:cTn id="426" dur="700" fill="hold"/>
                              <p:tgtEl>
                                <p:spTgt spid="42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27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428" dur="700" fill="hold"/>
                              <p:tgtEl>
                                <p:spTgt spid="42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29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430" dur="700" fill="hold"/>
                              <p:tgtEl>
                                <p:spTgt spid="42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1" presetID="2" presetClass="entr" presetSubtype="8" fill="hold" grpId="0" nodeType="clickEffect">
                        <p:stCondLst>
                          <p:cond delay="800"/>
                        </p:stCondLst>
                        <p:childTnLst>
                          <p:animEffect transition="in" filter="fly">
                            <p:cBhvr>
                              <p:cTn id="432" dur="600" fill="hold"/>
                              <p:tgtEl>
                                <p:spTgt spid="43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3" presetID="22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zoom">
                            <p:cBhvr>
                              <p:cTn id="434" dur="500" fill="hold"/>
                              <p:tgtEl>
                                <p:spTgt spid="43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5" presetID="22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zoom">
                            <p:cBhvr>
                              <p:cTn id="436" dur="500" fill="hold"/>
                              <p:tgtEl>
                                <p:spTgt spid="43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7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438" dur="700" fill="hold"/>
                              <p:tgtEl>
                                <p:spTgt spid="43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39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440" dur="700" fill="hold"/>
                              <p:tgtEl>
                                <p:spTgt spid="43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41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442" dur="700" fill="hold"/>
                              <p:tgtEl>
                                <p:spTgt spid="44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43" presetID="2" presetClass="entr" presetSubtype="8" fill="hold" grpId="0" nodeType="clickEffect">
                        <p:stCondLst>
                          <p:cond delay="1000"/>
                        </p:stCondLst>
                        <p:childTnLst>
                          <p:animEffect transition="in" filter="fly">
                            <p:cBhvr>
                              <p:cTn id="444" dur="600" fill="hold"/>
                              <p:tgtEl>
                                <p:spTgt spid="44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45" presetID="22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zoom">
                            <p:cBhvr>
                              <p:cTn id="446" dur="500" fill="hold"/>
                              <p:tgtEl>
                                <p:spTgt spid="44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47" presetID="22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zoom">
                            <p:cBhvr>
                              <p:cTn id="448" dur="500" fill="hold"/>
                              <p:tgtEl>
                                <p:spTgt spid="44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49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animEffect transition="in" filter="fade">
                            <p:cBhvr>
                              <p:cTn id="450" dur="700" fill="hold"/>
                              <p:tgtEl>
                                <p:spTgt spid="44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51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452" dur="700" fill="hold"/>
                              <p:tgtEl>
                                <p:spTgt spid="45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53" presetID="10" presetClass="entr" presetSubtype="0" fill="hold" grpId="0" nodeType="clickEffect">
                        <p:stCondLst>
                          <p:cond delay="1400"/>
                        </p:stCondLst>
                        <p:childTnLst>
                          <p:animEffect transition="in" filter="fade">
                            <p:cBhvr>
                              <p:cTn id="454" dur="700" fill="hold"/>
                              <p:tgtEl>
                                <p:spTgt spid="453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61020"/>
              </a:gs>
              <a:gs pos="100000">
                <a:srgbClr val="0a221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3657600" cy="3657600"/>
          </a:xfrm>
          <a:prstGeom prst="rect">
            <a:avLst/>
          </a:prstGeom>
          <a:solidFill>
            <a:srgbClr val="00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8686800" y="-914400"/>
            <a:ext cx="3657600" cy="3657600"/>
          </a:xfrm>
          <a:prstGeom prst="rect">
            <a:avLst/>
          </a:prstGeom>
          <a:solidFill>
            <a:srgbClr val="0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⚽ 🌟 🇧🇩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"If We Want Global Success,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53"/>
                </a:solidFill>
                <a:latin typeface="Segoe UI"/>
              </a:rPr>
              <a:t>We Must First Build Strong Local Football."</a:t>
            </a:r>
          </a:p>
        </p:txBody>
      </p:sp>
      <p:sp>
        <p:nvSpPr>
          <p:cNvPr id="465" name="Rectangle 464"/>
          <p:cNvSpPr/>
          <p:nvPr/>
        </p:nvSpPr>
        <p:spPr>
          <a:xfrm>
            <a:off x="3200400" y="3291840"/>
            <a:ext cx="57881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Segoe UI"/>
              </a:rPr>
              <a:t>🔑  Key Takeaway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▸  Bangladesh has the passion — it needs the structure, promotion &amp; investment.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▸  BPL can grow if youth are engaged through smart digital strategies &amp; quality football.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Segoe UI"/>
              </a:rPr>
              <a:t>▸  A strong local league is the foundation of every great footballing nation.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Thank You! 🙏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7755"/>
                </a:solidFill>
                <a:latin typeface="Segoe UI"/>
              </a:rPr>
              <a:t>© Copyright by Tahorim Somrat  |  BPL Football Presentation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455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456" dur="700" fill="hold"/>
                              <p:tgtEl>
                                <p:spTgt spid="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57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458" dur="700" fill="hold"/>
                              <p:tgtEl>
                                <p:spTgt spid="45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59" presetID="22" presetClass="entr" presetSubtype="0" fill="hold" grpId="0" nodeType="clickEffect">
                        <p:stCondLst>
                          <p:cond delay="100"/>
                        </p:stCondLst>
                        <p:childTnLst>
                          <p:animEffect transition="in" filter="zoom">
                            <p:cBhvr>
                              <p:cTn id="460" dur="500" fill="hold"/>
                              <p:tgtEl>
                                <p:spTgt spid="45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61" presetID="2" presetClass="entr" presetSubtype="8" fill="hold" grpId="0" nodeType="clickEffect">
                        <p:stCondLst>
                          <p:cond delay="300"/>
                        </p:stCondLst>
                        <p:childTnLst>
                          <p:animEffect transition="in" filter="fly">
                            <p:cBhvr>
                              <p:cTn id="462" dur="600" fill="hold"/>
                              <p:tgtEl>
                                <p:spTgt spid="46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63" presetID="2" presetClass="entr" presetSubtype="8" fill="hold" grpId="0" nodeType="clickEffect">
                        <p:stCondLst>
                          <p:cond delay="600"/>
                        </p:stCondLst>
                        <p:childTnLst>
                          <p:animEffect transition="in" filter="fly">
                            <p:cBhvr>
                              <p:cTn id="464" dur="600" fill="hold"/>
                              <p:tgtEl>
                                <p:spTgt spid="46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65" presetID="10" presetClass="entr" presetSubtype="0" fill="hold" grpId="0" nodeType="clickEffect">
                        <p:stCondLst>
                          <p:cond delay="900"/>
                        </p:stCondLst>
                        <p:childTnLst>
                          <p:animEffect transition="in" filter="fade">
                            <p:cBhvr>
                              <p:cTn id="466" dur="700" fill="hold"/>
                              <p:tgtEl>
                                <p:spTgt spid="46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67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animEffect transition="in" filter="fade">
                            <p:cBhvr>
                              <p:cTn id="468" dur="700" fill="hold"/>
                              <p:tgtEl>
                                <p:spTgt spid="467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69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animEffect transition="in" filter="fade">
                            <p:cBhvr>
                              <p:cTn id="470" dur="700" fill="hold"/>
                              <p:tgtEl>
                                <p:spTgt spid="469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71" presetID="10" presetClass="entr" presetSubtype="0" fill="hold" grpId="0" nodeType="clickEffect">
                        <p:stCondLst>
                          <p:cond delay="1300"/>
                        </p:stCondLst>
                        <p:childTnLst>
                          <p:animEffect transition="in" filter="fade">
                            <p:cBhvr>
                              <p:cTn id="472" dur="700" fill="hold"/>
                              <p:tgtEl>
                                <p:spTgt spid="471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73" presetID="10" presetClass="entr" presetSubtype="0" fill="hold" grpId="0" nodeType="clickEffect">
                        <p:stCondLst>
                          <p:cond delay="1500"/>
                        </p:stCondLst>
                        <p:childTnLst>
                          <p:animEffect transition="in" filter="fade">
                            <p:cBhvr>
                              <p:cTn id="474" dur="700" fill="hold"/>
                              <p:tgtEl>
                                <p:spTgt spid="473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75" presetID="22" presetClass="entr" presetSubtype="0" fill="hold" grpId="0" nodeType="clickEffect">
                        <p:stCondLst>
                          <p:cond delay="1700"/>
                        </p:stCondLst>
                        <p:childTnLst>
                          <p:animEffect transition="in" filter="zoom">
                            <p:cBhvr>
                              <p:cTn id="476" dur="500" fill="hold"/>
                              <p:tgtEl>
                                <p:spTgt spid="475"/>
                              </p:tgtEl>
                            </p:cBhvr>
                          </p:animEffect>
                        </p:childTnLst>
                      </p:cTn>
                    </p:par>
                    <p:par>
                      <p:cTn id="477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animEffect transition="in" filter="fade">
                            <p:cBhvr>
                              <p:cTn id="478" dur="700" fill="hold"/>
                              <p:tgtEl>
                                <p:spTgt spid="477"/>
                              </p:tgtEl>
                            </p:cBhvr>
                          </p:animEffect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