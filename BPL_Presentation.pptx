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e1a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74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  <a:latin typeface="Segoe UI"/>
              </a:rPr>
              <a:t>⚽ 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Segoe UI"/>
              </a:rPr>
              <a:t>Why Bangladesh Premier League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C853"/>
                </a:solidFill>
                <a:latin typeface="Segoe UI"/>
              </a:rPr>
              <a:t>Fails to Attract Urban Youth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3017520"/>
            <a:ext cx="578815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D6E8"/>
                </a:solidFill>
                <a:latin typeface="Segoe UI"/>
              </a:rPr>
              <a:t>A Research-Based Presentation on Football Culture &amp; Fan Behavior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931920"/>
            <a:ext cx="5212080" cy="228600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9319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  <a:latin typeface="Segoe UI"/>
              </a:rPr>
              <a:t>Presented by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343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65429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96519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27608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558698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0" y="6656832"/>
            <a:ext cx="12188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Segoe UI"/>
              </a:rPr>
              <a:t>© Copyright by Tahorim Somrat  |  BPL Football Presentation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" dur="7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" presetID="10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fade">
                            <p:cBhvr>
                              <p:cTn id="6" dur="700" fill="hold"/>
                              <p:tgtEl>
                                <p:spTgt spid="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8" dur="700" fill="hold"/>
                              <p:tgtEl>
                                <p:spTgt spid="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10" dur="600" fill="hold"/>
                              <p:tgtEl>
                                <p:spTgt spid="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2" dur="600" fill="hold"/>
                              <p:tgtEl>
                                <p:spTgt spid="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4" dur="700" fill="hold"/>
                              <p:tgtEl>
                                <p:spTgt spid="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6" dur="700" fill="hold"/>
                              <p:tgtEl>
                                <p:spTgt spid="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8" dur="700" fill="hold"/>
                              <p:tgtEl>
                                <p:spTgt spid="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20" dur="700" fill="hold"/>
                              <p:tgtEl>
                                <p:spTgt spid="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22" dur="700" fill="hold"/>
                              <p:tgtEl>
                                <p:spTgt spid="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" presetID="10" presetClass="entr" presetSubtype="0" fill="hold" grpId="0" nodeType="clickEffect">
                        <p:stCondLst>
                          <p:cond delay="1250"/>
                        </p:stCondLst>
                        <p:childTnLst>
                          <p:animEffect transition="in" filter="fade">
                            <p:cBhvr>
                              <p:cTn id="24" dur="700" fill="hold"/>
                              <p:tgtEl>
                                <p:spTgt spid="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6" dur="700" fill="hold"/>
                              <p:tgtEl>
                                <p:spTgt spid="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" presetID="10" presetClass="entr" presetSubtype="0" fill="hold" grpId="0" nodeType="clickEffect">
                        <p:stCondLst>
                          <p:cond delay="1550"/>
                        </p:stCondLst>
                        <p:childTnLst>
                          <p:animEffect transition="in" filter="fade">
                            <p:cBhvr>
                              <p:cTn id="28" dur="700" fill="hold"/>
                              <p:tgtEl>
                                <p:spTgt spid="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" presetID="10" presetClass="entr" presetSubtype="0" fill="hold" grpId="0" nodeType="clickEffect">
                        <p:stCondLst>
                          <p:cond delay="1700"/>
                        </p:stCondLst>
                        <p:childTnLst>
                          <p:animEffect transition="in" filter="fade">
                            <p:cBhvr>
                              <p:cTn id="30" dur="700" fill="hold"/>
                              <p:tgtEl>
                                <p:spTgt spid="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2" dur="700" fill="hold"/>
                              <p:tgtEl>
                                <p:spTgt spid="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4" dur="700" fill="hold"/>
                              <p:tgtEl>
                                <p:spTgt spid="3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2560320" cy="4572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182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THE REALITY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8229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Bangladesh Loves Football ❤️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D700"/>
                </a:solidFill>
                <a:latin typeface="Segoe UI"/>
              </a:rPr>
              <a:t>BUT…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0574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1744"/>
                </a:solidFill>
                <a:latin typeface="Segoe UI"/>
              </a:rPr>
              <a:t>Bangladesh Doesn't Watch Local Football 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788920"/>
            <a:ext cx="11274552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2926080"/>
            <a:ext cx="5303520" cy="3383280"/>
          </a:xfrm>
          <a:prstGeom prst="rect">
            <a:avLst/>
          </a:prstGeom>
          <a:solidFill>
            <a:srgbClr val="082A18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3017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53"/>
                </a:solidFill>
                <a:latin typeface="Segoe UI"/>
              </a:rPr>
              <a:t>🌍  European Football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Millions of Bangladeshi Fans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409651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Huge Social Media Buzz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58114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Packed Stadiums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506577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Global Star Players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5504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Premium Broadcasting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28232" y="2926080"/>
            <a:ext cx="5303520" cy="3383280"/>
          </a:xfrm>
          <a:prstGeom prst="rect">
            <a:avLst/>
          </a:prstGeom>
          <a:solidFill>
            <a:srgbClr val="2A0808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11112" y="3017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744"/>
                </a:solidFill>
                <a:latin typeface="Segoe UI"/>
              </a:rPr>
              <a:t>🇧🇩  Bangladesh Premier League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11112" y="3611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Low Stadium Attendance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1112" y="409651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Limited Media Attention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11112" y="45811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Less Excitement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1112" y="506577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No Star Promotion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11112" y="55504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Weak Broadcasting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0" y="4114800"/>
            <a:ext cx="1216152" cy="1216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0" y="4206240"/>
            <a:ext cx="1216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E1A"/>
                </a:solidFill>
                <a:latin typeface="Segoe UI"/>
              </a:rPr>
              <a:t>VS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5" presetID="22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zoom">
                            <p:cBhvr>
                              <p:cTn id="36" dur="5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" presetID="22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zoom">
                            <p:cBhvr>
                              <p:cTn id="38" dur="500" fill="hold"/>
                              <p:tgtEl>
                                <p:spTgt spid="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" presetID="2" presetClass="entr" presetSubtype="8" fill="hold" grpId="0" nodeType="clickEffect">
                        <p:stCondLst>
                          <p:cond delay="200"/>
                        </p:stCondLst>
                        <p:childTnLst>
                          <p:animEffect transition="in" filter="fly">
                            <p:cBhvr>
                              <p:cTn id="40" dur="600" fill="hold"/>
                              <p:tgtEl>
                                <p:spTgt spid="40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" presetID="2" presetClass="entr" presetSubtype="8" fill="hold" grpId="0" nodeType="clickEffect">
                        <p:stCondLst>
                          <p:cond delay="400"/>
                        </p:stCondLst>
                        <p:childTnLst>
                          <p:animEffect transition="in" filter="fly">
                            <p:cBhvr>
                              <p:cTn id="42" dur="600" fill="hold"/>
                              <p:tgtEl>
                                <p:spTgt spid="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4" dur="600" fill="hold"/>
                              <p:tgtEl>
                                <p:spTgt spid="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46" dur="700" fill="hold"/>
                              <p:tgtEl>
                                <p:spTgt spid="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48" dur="600" fill="hold"/>
                              <p:tgtEl>
                                <p:spTgt spid="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9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50" dur="700" fill="hold"/>
                              <p:tgtEl>
                                <p:spTgt spid="50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1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52" dur="700" fill="hold"/>
                              <p:tgtEl>
                                <p:spTgt spid="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54" dur="700" fill="hold"/>
                              <p:tgtEl>
                                <p:spTgt spid="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5" presetID="10" presetClass="entr" presetSubtype="0" fill="hold" grpId="0" nodeType="clickEffect">
                        <p:stCondLst>
                          <p:cond delay="1350"/>
                        </p:stCondLst>
                        <p:childTnLst>
                          <p:animEffect transition="in" filter="fade">
                            <p:cBhvr>
                              <p:cTn id="56" dur="700" fill="hold"/>
                              <p:tgtEl>
                                <p:spTgt spid="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7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58" dur="700" fill="hold"/>
                              <p:tgtEl>
                                <p:spTgt spid="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9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60" dur="600" fill="hold"/>
                              <p:tgtEl>
                                <p:spTgt spid="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1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62" dur="700" fill="hold"/>
                              <p:tgtEl>
                                <p:spTgt spid="62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3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64" dur="700" fill="hold"/>
                              <p:tgtEl>
                                <p:spTgt spid="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5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66" dur="700" fill="hold"/>
                              <p:tgtEl>
                                <p:spTgt spid="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7" presetID="10" presetClass="entr" presetSubtype="0" fill="hold" grpId="0" nodeType="clickEffect">
                        <p:stCondLst>
                          <p:cond delay="1350"/>
                        </p:stCondLst>
                        <p:childTnLst>
                          <p:animEffect transition="in" filter="fade">
                            <p:cBhvr>
                              <p:cTn id="68" dur="700" fill="hold"/>
                              <p:tgtEl>
                                <p:spTgt spid="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9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70" dur="700" fill="hold"/>
                              <p:tgtEl>
                                <p:spTgt spid="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1" presetID="22" presetClass="entr" presetSubtype="0" fill="hold" grpId="0" nodeType="clickEffect">
                        <p:stCondLst>
                          <p:cond delay="850"/>
                        </p:stCondLst>
                        <p:childTnLst>
                          <p:animEffect transition="in" filter="zoom">
                            <p:cBhvr>
                              <p:cTn id="72" dur="500" fill="hold"/>
                              <p:tgtEl>
                                <p:spTgt spid="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3" presetID="22" presetClass="entr" presetSubtype="0" fill="hold" grpId="0" nodeType="clickEffect">
                        <p:stCondLst>
                          <p:cond delay="850"/>
                        </p:stCondLst>
                        <p:childTnLst>
                          <p:animEffect transition="in" filter="zoom">
                            <p:cBhvr>
                              <p:cTn id="74" dur="500" fill="hold"/>
                              <p:tgtEl>
                                <p:spTgt spid="7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Main Reasons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Why Urban Youth Choose European Football Over BPL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75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76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78" dur="700" fill="hold"/>
                              <p:tgtEl>
                                <p:spTgt spid="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9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80" dur="700" fill="hold"/>
                              <p:tgtEl>
                                <p:spTgt spid="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1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82" dur="500" fill="hold"/>
                              <p:tgtEl>
                                <p:spTgt spid="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3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84" dur="700" fill="hold"/>
                              <p:tgtEl>
                                <p:spTgt spid="8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Why Youth Prefer European Football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Key factors driving youth engagement with European clubs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71600" y="149047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Better Quality Football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371600" y="187451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High-level skills, tactics &amp; competitive matches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⭐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371600" y="247802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World-Famous Players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71600" y="28620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Mbappe, Haaland, Vinicius Jr – global icons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🎉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71600" y="346557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Electric Stadium Atmosphere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71600" y="38496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Chants, fan culture, sold-out arenas worldwide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📺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71600" y="44531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Superior Broadcasting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371600" y="48371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HD telecasts, multiple camera angles, analytics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🌐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71600" y="5440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Global Brand Power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371600" y="58247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Massive merchandise, documentaries &amp; digital reach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85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86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7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88" dur="700" fill="hold"/>
                              <p:tgtEl>
                                <p:spTgt spid="8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90" dur="600" fill="hold"/>
                              <p:tgtEl>
                                <p:spTgt spid="8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92" dur="700" fill="hold"/>
                              <p:tgtEl>
                                <p:spTgt spid="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3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94" dur="700" fill="hold"/>
                              <p:tgtEl>
                                <p:spTgt spid="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5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96" dur="700" fill="hold"/>
                              <p:tgtEl>
                                <p:spTgt spid="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7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98" dur="600" fill="hold"/>
                              <p:tgtEl>
                                <p:spTgt spid="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00" dur="700" fill="hold"/>
                              <p:tgtEl>
                                <p:spTgt spid="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1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02" dur="700" fill="hold"/>
                              <p:tgtEl>
                                <p:spTgt spid="1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3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04" dur="700" fill="hold"/>
                              <p:tgtEl>
                                <p:spTgt spid="1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5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106" dur="600" fill="hold"/>
                              <p:tgtEl>
                                <p:spTgt spid="1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08" dur="700" fill="hold"/>
                              <p:tgtEl>
                                <p:spTgt spid="1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9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10" dur="700" fill="hold"/>
                              <p:tgtEl>
                                <p:spTgt spid="1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1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12" dur="700" fill="hold"/>
                              <p:tgtEl>
                                <p:spTgt spid="1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3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114" dur="600" fill="hold"/>
                              <p:tgtEl>
                                <p:spTgt spid="1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16" dur="700" fill="hold"/>
                              <p:tgtEl>
                                <p:spTgt spid="1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7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118" dur="700" fill="hold"/>
                              <p:tgtEl>
                                <p:spTgt spid="1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20" dur="700" fill="hold"/>
                              <p:tgtEl>
                                <p:spTgt spid="1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1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122" dur="600" fill="hold"/>
                              <p:tgtEl>
                                <p:spTgt spid="1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24" dur="700" fill="hold"/>
                              <p:tgtEl>
                                <p:spTgt spid="1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5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126" dur="700" fill="hold"/>
                              <p:tgtEl>
                                <p:spTgt spid="1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7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128" dur="700" fill="hold"/>
                              <p:tgtEl>
                                <p:spTgt spid="12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Why Bangladesh Premier League Struggles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Core problems holding back BPL's growth &amp; popularity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📣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1600" y="14904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Poor Marketing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71600" y="1874519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No aggressive campaigns; clubs unknown outside hardcore fans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📡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71600" y="247802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  <a:latin typeface="Segoe UI"/>
              </a:rPr>
              <a:t>Weak Broadcasting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71600" y="286207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Low-quality streams, no international coverage or distribution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🌟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71600" y="346557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No Star Promotion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0" y="384962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Local players not built into media personalities or heroes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🏟️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0" y="44531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Poor Match Experience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371600" y="4837176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Uncomfortable stadiums, lack of fan zones &amp; entertainment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📢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71600" y="5440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Lack of Awareness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371600" y="582472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Youth simply don't know fixtures, standings, or club stories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29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130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1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132" dur="700" fill="hold"/>
                              <p:tgtEl>
                                <p:spTgt spid="1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3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134" dur="600" fill="hold"/>
                              <p:tgtEl>
                                <p:spTgt spid="1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5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136" dur="700" fill="hold"/>
                              <p:tgtEl>
                                <p:spTgt spid="1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7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138" dur="700" fill="hold"/>
                              <p:tgtEl>
                                <p:spTgt spid="1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40" dur="700" fill="hold"/>
                              <p:tgtEl>
                                <p:spTgt spid="1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1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42" dur="600" fill="hold"/>
                              <p:tgtEl>
                                <p:spTgt spid="1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44" dur="700" fill="hold"/>
                              <p:tgtEl>
                                <p:spTgt spid="1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5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46" dur="700" fill="hold"/>
                              <p:tgtEl>
                                <p:spTgt spid="1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48" dur="700" fill="hold"/>
                              <p:tgtEl>
                                <p:spTgt spid="1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9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150" dur="600" fill="hold"/>
                              <p:tgtEl>
                                <p:spTgt spid="1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52" dur="700" fill="hold"/>
                              <p:tgtEl>
                                <p:spTgt spid="1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3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54" dur="700" fill="hold"/>
                              <p:tgtEl>
                                <p:spTgt spid="1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56" dur="700" fill="hold"/>
                              <p:tgtEl>
                                <p:spTgt spid="1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7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158" dur="600" fill="hold"/>
                              <p:tgtEl>
                                <p:spTgt spid="1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60" dur="700" fill="hold"/>
                              <p:tgtEl>
                                <p:spTgt spid="1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1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162" dur="700" fill="hold"/>
                              <p:tgtEl>
                                <p:spTgt spid="1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64" dur="700" fill="hold"/>
                              <p:tgtEl>
                                <p:spTgt spid="1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5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166" dur="600" fill="hold"/>
                              <p:tgtEl>
                                <p:spTgt spid="1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68" dur="700" fill="hold"/>
                              <p:tgtEl>
                                <p:spTgt spid="1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9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170" dur="700" fill="hold"/>
                              <p:tgtEl>
                                <p:spTgt spid="1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1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172" dur="700" fill="hold"/>
                              <p:tgtEl>
                                <p:spTgt spid="17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Digital Media &amp; Fan Psychology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How Online Platforms Shape Football Preferences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7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174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5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176" dur="700" fill="hold"/>
                              <p:tgtEl>
                                <p:spTgt spid="1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7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178" dur="700" fill="hold"/>
                              <p:tgtEl>
                                <p:spTgt spid="1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9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180" dur="500" fill="hold"/>
                              <p:tgtEl>
                                <p:spTgt spid="1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182" dur="700" fill="hold"/>
                              <p:tgtEl>
                                <p:spTgt spid="18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Social Media Influence on Football Preference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40080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40080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📷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1306C"/>
                </a:solidFill>
                <a:latin typeface="Segoe UI"/>
              </a:rPr>
              <a:t>Instagram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83463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283463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📘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83463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BFF"/>
                </a:solidFill>
                <a:latin typeface="Segoe UI"/>
              </a:rPr>
              <a:t>Facebook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029200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029200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🎵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0292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2EA"/>
                </a:solidFill>
                <a:latin typeface="Segoe UI"/>
              </a:rPr>
              <a:t>TikTok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722375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22375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▶️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22375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1744"/>
                </a:solidFill>
                <a:latin typeface="Segoe UI"/>
              </a:rPr>
              <a:t>YouTube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941831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41831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🐦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41831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X (Twitter)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457200" y="3017520"/>
            <a:ext cx="11274552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57200" y="3200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53"/>
                </a:solidFill>
                <a:latin typeface="Segoe UI"/>
              </a:rPr>
              <a:t>🌍  European Clubs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5720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📈  Daily Content Uploads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57200" y="42519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🎬  Reels, Shorts &amp; Highlights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57200" y="47548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💬  Millions of Comments &amp; Shares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7200" y="5257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🌐  Global Viral Campaigns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57200" y="5760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⚡  Real-time Engagement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400800" y="3200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744"/>
                </a:solidFill>
                <a:latin typeface="Segoe UI"/>
              </a:rPr>
              <a:t>🇧🇩  Bangladesh Clubs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📉  Limited Content Output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6400800" y="42519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😴  Outdated Posts &amp; Graphics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400800" y="47548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🔇  Almost No Online Presence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400800" y="5257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🚫  No Viral Campaigns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6400800" y="5760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❄️  Very Low Fan Interaction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5486400" y="3840480"/>
            <a:ext cx="1216152" cy="1216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5486400" y="3931920"/>
            <a:ext cx="1216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E1A"/>
                </a:solidFill>
                <a:latin typeface="Segoe UI"/>
              </a:rPr>
              <a:t>VS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83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184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5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186" dur="500" fill="hold"/>
                              <p:tgtEl>
                                <p:spTgt spid="1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7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188" dur="500" fill="hold"/>
                              <p:tgtEl>
                                <p:spTgt spid="18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9" presetID="10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fade">
                            <p:cBhvr>
                              <p:cTn id="190" dur="700" fill="hold"/>
                              <p:tgtEl>
                                <p:spTgt spid="18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1" presetID="22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zoom">
                            <p:cBhvr>
                              <p:cTn id="192" dur="500" fill="hold"/>
                              <p:tgtEl>
                                <p:spTgt spid="1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3" presetID="22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zoom">
                            <p:cBhvr>
                              <p:cTn id="194" dur="500" fill="hold"/>
                              <p:tgtEl>
                                <p:spTgt spid="1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5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196" dur="700" fill="hold"/>
                              <p:tgtEl>
                                <p:spTgt spid="1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7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198" dur="500" fill="hold"/>
                              <p:tgtEl>
                                <p:spTgt spid="1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9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200" dur="500" fill="hold"/>
                              <p:tgtEl>
                                <p:spTgt spid="1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1" presetID="10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fade">
                            <p:cBhvr>
                              <p:cTn id="202" dur="700" fill="hold"/>
                              <p:tgtEl>
                                <p:spTgt spid="2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3" presetID="22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zoom">
                            <p:cBhvr>
                              <p:cTn id="204" dur="500" fill="hold"/>
                              <p:tgtEl>
                                <p:spTgt spid="2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5" presetID="22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zoom">
                            <p:cBhvr>
                              <p:cTn id="206" dur="500" fill="hold"/>
                              <p:tgtEl>
                                <p:spTgt spid="2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208" dur="700" fill="hold"/>
                              <p:tgtEl>
                                <p:spTgt spid="2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9" presetID="22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zoom">
                            <p:cBhvr>
                              <p:cTn id="210" dur="500" fill="hold"/>
                              <p:tgtEl>
                                <p:spTgt spid="2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1" presetID="22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zoom">
                            <p:cBhvr>
                              <p:cTn id="212" dur="500" fill="hold"/>
                              <p:tgtEl>
                                <p:spTgt spid="2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3" presetID="10" presetClass="entr" presetSubtype="0" fill="hold" grpId="0" nodeType="clickEffect">
                        <p:stCondLst>
                          <p:cond delay="950"/>
                        </p:stCondLst>
                        <p:childTnLst>
                          <p:animEffect transition="in" filter="fade">
                            <p:cBhvr>
                              <p:cTn id="214" dur="700" fill="hold"/>
                              <p:tgtEl>
                                <p:spTgt spid="2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216" dur="700" fill="hold"/>
                              <p:tgtEl>
                                <p:spTgt spid="2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7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218" dur="600" fill="hold"/>
                              <p:tgtEl>
                                <p:spTgt spid="2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220" dur="700" fill="hold"/>
                              <p:tgtEl>
                                <p:spTgt spid="2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1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222" dur="700" fill="hold"/>
                              <p:tgtEl>
                                <p:spTgt spid="2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3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24" dur="700" fill="hold"/>
                              <p:tgtEl>
                                <p:spTgt spid="2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5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226" dur="700" fill="hold"/>
                              <p:tgtEl>
                                <p:spTgt spid="2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7" presetID="10" presetClass="entr" presetSubtype="0" fill="hold" grpId="0" nodeType="clickEffect">
                        <p:stCondLst>
                          <p:cond delay="1600"/>
                        </p:stCondLst>
                        <p:childTnLst>
                          <p:animEffect transition="in" filter="fade">
                            <p:cBhvr>
                              <p:cTn id="228" dur="700" fill="hold"/>
                              <p:tgtEl>
                                <p:spTgt spid="2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9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230" dur="600" fill="hold"/>
                              <p:tgtEl>
                                <p:spTgt spid="2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1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232" dur="700" fill="hold"/>
                              <p:tgtEl>
                                <p:spTgt spid="2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3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234" dur="700" fill="hold"/>
                              <p:tgtEl>
                                <p:spTgt spid="2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5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36" dur="700" fill="hold"/>
                              <p:tgtEl>
                                <p:spTgt spid="2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7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238" dur="700" fill="hold"/>
                              <p:tgtEl>
                                <p:spTgt spid="2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9" presetID="10" presetClass="entr" presetSubtype="0" fill="hold" grpId="0" nodeType="clickEffect">
                        <p:stCondLst>
                          <p:cond delay="1600"/>
                        </p:stCondLst>
                        <p:childTnLst>
                          <p:animEffect transition="in" filter="fade">
                            <p:cBhvr>
                              <p:cTn id="240" dur="700" fill="hold"/>
                              <p:tgtEl>
                                <p:spTgt spid="2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1" presetID="22" presetClass="entr" presetSubtype="0" fill="hold" grpId="0" nodeType="clickEffect">
                        <p:stCondLst>
                          <p:cond delay="1150"/>
                        </p:stCondLst>
                        <p:childTnLst>
                          <p:animEffect transition="in" filter="zoom">
                            <p:cBhvr>
                              <p:cTn id="242" dur="500" fill="hold"/>
                              <p:tgtEl>
                                <p:spTgt spid="24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Fan Psychology: What Drives People to Support a Club?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Understanding what fans truly seek in football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65760" y="1371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502920" y="14630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⭐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155448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Heroes &amp; Role Models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54864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Fans follow players they admire &amp; aspire to be like.
Bangladesh needs local football heroes.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6400800" y="1371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537960" y="14630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❤️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758952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Emotional Connection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5836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Club identity, city pride &amp; community create belonging.
BPL clubs lack strong fan identities.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365760" y="3657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502920" y="3749039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🏆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554480" y="3794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Winning Culture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48640" y="4480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People love to associate with winners &amp; champions.
European clubs have trophies &amp; history.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6400800" y="3657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49039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589520" y="3794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Entertainment Value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583680" y="4480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Football must compete with Netflix, gaming &amp; YouTube.
BPL needs to be more thrilling &amp; accessible.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43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244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5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246" dur="700" fill="hold"/>
                              <p:tgtEl>
                                <p:spTgt spid="2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7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48" dur="600" fill="hold"/>
                              <p:tgtEl>
                                <p:spTgt spid="2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9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50" dur="500" fill="hold"/>
                              <p:tgtEl>
                                <p:spTgt spid="2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1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52" dur="700" fill="hold"/>
                              <p:tgtEl>
                                <p:spTgt spid="2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54" dur="700" fill="hold"/>
                              <p:tgtEl>
                                <p:spTgt spid="2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5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56" dur="600" fill="hold"/>
                              <p:tgtEl>
                                <p:spTgt spid="2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7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58" dur="500" fill="hold"/>
                              <p:tgtEl>
                                <p:spTgt spid="2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9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60" dur="700" fill="hold"/>
                              <p:tgtEl>
                                <p:spTgt spid="2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1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62" dur="700" fill="hold"/>
                              <p:tgtEl>
                                <p:spTgt spid="2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3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64" dur="600" fill="hold"/>
                              <p:tgtEl>
                                <p:spTgt spid="2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5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66" dur="500" fill="hold"/>
                              <p:tgtEl>
                                <p:spTgt spid="2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7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68" dur="700" fill="hold"/>
                              <p:tgtEl>
                                <p:spTgt spid="2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70" dur="700" fill="hold"/>
                              <p:tgtEl>
                                <p:spTgt spid="2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1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72" dur="600" fill="hold"/>
                              <p:tgtEl>
                                <p:spTgt spid="2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3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74" dur="500" fill="hold"/>
                              <p:tgtEl>
                                <p:spTgt spid="2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5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76" dur="700" fill="hold"/>
                              <p:tgtEl>
                                <p:spTgt spid="2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7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78" dur="700" fill="hold"/>
                              <p:tgtEl>
                                <p:spTgt spid="27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Financial &amp; Structural Challenges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Deep-Rooted Problems in BPL Organization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7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280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282" dur="700" fill="hold"/>
                              <p:tgtEl>
                                <p:spTgt spid="2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3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284" dur="700" fill="hold"/>
                              <p:tgtEl>
                                <p:spTgt spid="28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5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286" dur="500" fill="hold"/>
                              <p:tgtEl>
                                <p:spTgt spid="2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7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288" dur="700" fill="hold"/>
                              <p:tgtEl>
                                <p:spTgt spid="28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Financial Challenges: A Vicious Cycle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91440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05840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82880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1744"/>
                </a:solidFill>
                <a:latin typeface="Segoe UI"/>
              </a:rPr>
              <a:t>Low Revenue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384048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→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438912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4480559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📉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30352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7700"/>
                </a:solidFill>
                <a:latin typeface="Segoe UI"/>
              </a:rPr>
              <a:t>Less Investment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31520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→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786384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955279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🏚️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877824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  <a:latin typeface="Segoe UI"/>
              </a:rPr>
              <a:t>Poor Facilities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0" y="2560320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↓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AA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1005840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⬇️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182880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ACC00"/>
                </a:solidFill>
                <a:latin typeface="Segoe UI"/>
              </a:rPr>
              <a:t>Lower Quality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36576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←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38912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4480559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👎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30352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53"/>
                </a:solidFill>
                <a:latin typeface="Segoe UI"/>
              </a:rPr>
              <a:t>Less Audience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384048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←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786384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7955279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🔁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877824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FF"/>
                </a:solidFill>
                <a:latin typeface="Segoe UI"/>
              </a:rPr>
              <a:t>Again Low Revenue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700"/>
                </a:solidFill>
                <a:latin typeface="Segoe UI"/>
              </a:rPr>
              <a:t>🔄  This cycle repeats — breaking it requires bold structural reform!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89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290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1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292" dur="500" fill="hold"/>
                              <p:tgtEl>
                                <p:spTgt spid="2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3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294" dur="700" fill="hold"/>
                              <p:tgtEl>
                                <p:spTgt spid="2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5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296" dur="700" fill="hold"/>
                              <p:tgtEl>
                                <p:spTgt spid="2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7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98" dur="700" fill="hold"/>
                              <p:tgtEl>
                                <p:spTgt spid="2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9" presetID="22" presetClass="entr" presetSubtype="0" fill="hold" grpId="0" nodeType="clickEffect">
                        <p:stCondLst>
                          <p:cond delay="450"/>
                        </p:stCondLst>
                        <p:childTnLst>
                          <p:animEffect transition="in" filter="zoom">
                            <p:cBhvr>
                              <p:cTn id="300" dur="500" fill="hold"/>
                              <p:tgtEl>
                                <p:spTgt spid="2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1" presetID="10" presetClass="entr" presetSubtype="0" fill="hold" grpId="0" nodeType="clickEffect">
                        <p:stCondLst>
                          <p:cond delay="550"/>
                        </p:stCondLst>
                        <p:childTnLst>
                          <p:animEffect transition="in" filter="fade">
                            <p:cBhvr>
                              <p:cTn id="302" dur="700" fill="hold"/>
                              <p:tgtEl>
                                <p:spTgt spid="3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3" presetID="10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fade">
                            <p:cBhvr>
                              <p:cTn id="304" dur="700" fill="hold"/>
                              <p:tgtEl>
                                <p:spTgt spid="3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5" presetID="10" presetClass="entr" presetSubtype="0" fill="hold" grpId="0" nodeType="clickEffect">
                        <p:stCondLst>
                          <p:cond delay="750"/>
                        </p:stCondLst>
                        <p:childTnLst>
                          <p:animEffect transition="in" filter="fade">
                            <p:cBhvr>
                              <p:cTn id="306" dur="700" fill="hold"/>
                              <p:tgtEl>
                                <p:spTgt spid="3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7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308" dur="500" fill="hold"/>
                              <p:tgtEl>
                                <p:spTgt spid="3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9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10" dur="700" fill="hold"/>
                              <p:tgtEl>
                                <p:spTgt spid="3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1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312" dur="700" fill="hold"/>
                              <p:tgtEl>
                                <p:spTgt spid="3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3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14" dur="700" fill="hold"/>
                              <p:tgtEl>
                                <p:spTgt spid="3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5" presetID="22" presetClass="entr" presetSubtype="0" fill="hold" grpId="0" nodeType="clickEffect">
                        <p:stCondLst>
                          <p:cond delay="950"/>
                        </p:stCondLst>
                        <p:childTnLst>
                          <p:animEffect transition="in" filter="zoom">
                            <p:cBhvr>
                              <p:cTn id="316" dur="500" fill="hold"/>
                              <p:tgtEl>
                                <p:spTgt spid="3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7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318" dur="700" fill="hold"/>
                              <p:tgtEl>
                                <p:spTgt spid="3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9" presetID="10" presetClass="entr" presetSubtype="0" fill="hold" grpId="0" nodeType="clickEffect">
                        <p:stCondLst>
                          <p:cond delay="1150"/>
                        </p:stCondLst>
                        <p:childTnLst>
                          <p:animEffect transition="in" filter="fade">
                            <p:cBhvr>
                              <p:cTn id="320" dur="700" fill="hold"/>
                              <p:tgtEl>
                                <p:spTgt spid="3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1" presetID="10" presetClass="entr" presetSubtype="0" fill="hold" grpId="0" nodeType="clickEffect">
                        <p:stCondLst>
                          <p:cond delay="1250"/>
                        </p:stCondLst>
                        <p:childTnLst>
                          <p:animEffect transition="in" filter="fade">
                            <p:cBhvr>
                              <p:cTn id="322" dur="700" fill="hold"/>
                              <p:tgtEl>
                                <p:spTgt spid="3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3" presetID="22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zoom">
                            <p:cBhvr>
                              <p:cTn id="324" dur="500" fill="hold"/>
                              <p:tgtEl>
                                <p:spTgt spid="3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5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326" dur="700" fill="hold"/>
                              <p:tgtEl>
                                <p:spTgt spid="3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7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328" dur="700" fill="hold"/>
                              <p:tgtEl>
                                <p:spTgt spid="3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9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330" dur="700" fill="hold"/>
                              <p:tgtEl>
                                <p:spTgt spid="3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1" presetID="22" presetClass="entr" presetSubtype="0" fill="hold" grpId="0" nodeType="clickEffect">
                        <p:stCondLst>
                          <p:cond delay="1450"/>
                        </p:stCondLst>
                        <p:childTnLst>
                          <p:animEffect transition="in" filter="zoom">
                            <p:cBhvr>
                              <p:cTn id="332" dur="500" fill="hold"/>
                              <p:tgtEl>
                                <p:spTgt spid="3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3" presetID="10" presetClass="entr" presetSubtype="0" fill="hold" grpId="0" nodeType="clickEffect">
                        <p:stCondLst>
                          <p:cond delay="1550"/>
                        </p:stCondLst>
                        <p:childTnLst>
                          <p:animEffect transition="in" filter="fade">
                            <p:cBhvr>
                              <p:cTn id="334" dur="700" fill="hold"/>
                              <p:tgtEl>
                                <p:spTgt spid="3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5" presetID="10" presetClass="entr" presetSubtype="0" fill="hold" grpId="0" nodeType="clickEffect">
                        <p:stCondLst>
                          <p:cond delay="1650"/>
                        </p:stCondLst>
                        <p:childTnLst>
                          <p:animEffect transition="in" filter="fade">
                            <p:cBhvr>
                              <p:cTn id="336" dur="700" fill="hold"/>
                              <p:tgtEl>
                                <p:spTgt spid="3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7" presetID="10" presetClass="entr" presetSubtype="0" fill="hold" grpId="0" nodeType="clickEffect">
                        <p:stCondLst>
                          <p:cond delay="1800"/>
                        </p:stCondLst>
                        <p:childTnLst>
                          <p:animEffect transition="in" filter="fade">
                            <p:cBhvr>
                              <p:cTn id="338" dur="700" fill="hold"/>
                              <p:tgtEl>
                                <p:spTgt spid="33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Management Challenges Holding BPL Back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Structural reforms are needed at every level of the league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371600" y="14904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  <a:latin typeface="Segoe UI"/>
              </a:rPr>
              <a:t>League Management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4846320" y="164592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Professional league governance &amp; transparent operations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📅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1371600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Match Scheduling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4846320" y="263347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Consistent, well-planned fixtures avoiding conflicts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🤝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1371600" y="346557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Sponsorship Deals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4846320" y="3621024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Corporate partnerships to inject capital into clubs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🧒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1371600" y="44531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Youth Academies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846320" y="4608576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Long-term player development pipelines for future stars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🎨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371600" y="54406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Club Branding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4846320" y="559612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Professional logos, kits, identity &amp; fan merchandise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39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340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1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342" dur="700" fill="hold"/>
                              <p:tgtEl>
                                <p:spTgt spid="3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3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344" dur="600" fill="hold"/>
                              <p:tgtEl>
                                <p:spTgt spid="3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5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46" dur="700" fill="hold"/>
                              <p:tgtEl>
                                <p:spTgt spid="3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7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348" dur="700" fill="hold"/>
                              <p:tgtEl>
                                <p:spTgt spid="3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350" dur="700" fill="hold"/>
                              <p:tgtEl>
                                <p:spTgt spid="3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1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352" dur="600" fill="hold"/>
                              <p:tgtEl>
                                <p:spTgt spid="3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354" dur="700" fill="hold"/>
                              <p:tgtEl>
                                <p:spTgt spid="3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5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356" dur="700" fill="hold"/>
                              <p:tgtEl>
                                <p:spTgt spid="3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58" dur="700" fill="hold"/>
                              <p:tgtEl>
                                <p:spTgt spid="3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9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360" dur="600" fill="hold"/>
                              <p:tgtEl>
                                <p:spTgt spid="3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62" dur="700" fill="hold"/>
                              <p:tgtEl>
                                <p:spTgt spid="3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3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364" dur="700" fill="hold"/>
                              <p:tgtEl>
                                <p:spTgt spid="3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66" dur="700" fill="hold"/>
                              <p:tgtEl>
                                <p:spTgt spid="3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7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368" dur="600" fill="hold"/>
                              <p:tgtEl>
                                <p:spTgt spid="3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70" dur="700" fill="hold"/>
                              <p:tgtEl>
                                <p:spTgt spid="3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1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372" dur="700" fill="hold"/>
                              <p:tgtEl>
                                <p:spTgt spid="3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374" dur="700" fill="hold"/>
                              <p:tgtEl>
                                <p:spTgt spid="3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5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376" dur="600" fill="hold"/>
                              <p:tgtEl>
                                <p:spTgt spid="3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378" dur="700" fill="hold"/>
                              <p:tgtEl>
                                <p:spTgt spid="3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9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380" dur="700" fill="hold"/>
                              <p:tgtEl>
                                <p:spTgt spid="3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1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382" dur="700" fill="hold"/>
                              <p:tgtEl>
                                <p:spTgt spid="38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Solutions &amp; Conclusion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A Roadmap to Reviving Bangladesh Football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8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84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5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86" dur="700" fill="hold"/>
                              <p:tgtEl>
                                <p:spTgt spid="3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7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388" dur="700" fill="hold"/>
                              <p:tgtEl>
                                <p:spTgt spid="38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9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390" dur="500" fill="hold"/>
                              <p:tgtEl>
                                <p:spTgt spid="38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92" dur="700" fill="hold"/>
                              <p:tgtEl>
                                <p:spTgt spid="39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How Can Bangladesh Football Improve? 🚀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548640" y="1645920"/>
            <a:ext cx="411480" cy="41148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548640" y="16184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109728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📣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920240" y="14904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Better Marketing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5577840" y="164592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Run digital campaigns, influencer collaborations &amp; PR drives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548640" y="2633472"/>
            <a:ext cx="411480" cy="4114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548640" y="2606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09728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🏟️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1920240" y="24780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Better Stadium Experience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5577840" y="263347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Fan zones, music, food &amp; family-friendly match day events</a:t>
            </a:r>
          </a:p>
        </p:txBody>
      </p:sp>
      <p:sp>
        <p:nvSpPr>
          <p:cNvPr id="419" name="Rectangle 418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548640" y="3621024"/>
            <a:ext cx="411480" cy="4114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548640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728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920240" y="346557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Strong Social Media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5577840" y="3621024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Daily content, player features, BTS videos &amp; live engagement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548640" y="4608576"/>
            <a:ext cx="411480" cy="411480"/>
          </a:xfrm>
          <a:prstGeom prst="rect">
            <a:avLst/>
          </a:prstGeom>
          <a:solidFill>
            <a:srgbClr val="AA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548640" y="4581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109728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🏃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920240" y="44531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Youth Development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577840" y="4608576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Grassroots football programs, school leagues &amp; academies</a:t>
            </a:r>
          </a:p>
        </p:txBody>
      </p:sp>
      <p:sp>
        <p:nvSpPr>
          <p:cNvPr id="443" name="Rectangle 442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548640" y="5596128"/>
            <a:ext cx="411480" cy="411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548640" y="55686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109728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🎨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1920240" y="5440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Club Branding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5577840" y="5596128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Build club identity, merchandise, anthems &amp; loyal fan bases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93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394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5" presetID="2" presetClass="entr" presetSubtype="8" fill="hold" grpId="0" nodeType="clickEffect">
                        <p:stCondLst>
                          <p:cond delay="200"/>
                        </p:stCondLst>
                        <p:childTnLst>
                          <p:animEffect transition="in" filter="fly">
                            <p:cBhvr>
                              <p:cTn id="396" dur="600" fill="hold"/>
                              <p:tgtEl>
                                <p:spTgt spid="3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7" presetID="22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zoom">
                            <p:cBhvr>
                              <p:cTn id="398" dur="500" fill="hold"/>
                              <p:tgtEl>
                                <p:spTgt spid="3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9" presetID="22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zoom">
                            <p:cBhvr>
                              <p:cTn id="400" dur="500" fill="hold"/>
                              <p:tgtEl>
                                <p:spTgt spid="3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402" dur="700" fill="hold"/>
                              <p:tgtEl>
                                <p:spTgt spid="4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3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404" dur="700" fill="hold"/>
                              <p:tgtEl>
                                <p:spTgt spid="4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5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406" dur="700" fill="hold"/>
                              <p:tgtEl>
                                <p:spTgt spid="4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7" presetID="2" presetClass="entr" presetSubtype="8" fill="hold" grpId="0" nodeType="clickEffect">
                        <p:stCondLst>
                          <p:cond delay="400"/>
                        </p:stCondLst>
                        <p:childTnLst>
                          <p:animEffect transition="in" filter="fly">
                            <p:cBhvr>
                              <p:cTn id="408" dur="600" fill="hold"/>
                              <p:tgtEl>
                                <p:spTgt spid="4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9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410" dur="500" fill="hold"/>
                              <p:tgtEl>
                                <p:spTgt spid="4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1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412" dur="500" fill="hold"/>
                              <p:tgtEl>
                                <p:spTgt spid="4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414" dur="700" fill="hold"/>
                              <p:tgtEl>
                                <p:spTgt spid="4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5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416" dur="700" fill="hold"/>
                              <p:tgtEl>
                                <p:spTgt spid="4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418" dur="700" fill="hold"/>
                              <p:tgtEl>
                                <p:spTgt spid="4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9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20" dur="600" fill="hold"/>
                              <p:tgtEl>
                                <p:spTgt spid="4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1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422" dur="500" fill="hold"/>
                              <p:tgtEl>
                                <p:spTgt spid="4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3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424" dur="500" fill="hold"/>
                              <p:tgtEl>
                                <p:spTgt spid="4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5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426" dur="700" fill="hold"/>
                              <p:tgtEl>
                                <p:spTgt spid="4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428" dur="700" fill="hold"/>
                              <p:tgtEl>
                                <p:spTgt spid="4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30" dur="700" fill="hold"/>
                              <p:tgtEl>
                                <p:spTgt spid="4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1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432" dur="600" fill="hold"/>
                              <p:tgtEl>
                                <p:spTgt spid="4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3" presetID="22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zoom">
                            <p:cBhvr>
                              <p:cTn id="434" dur="500" fill="hold"/>
                              <p:tgtEl>
                                <p:spTgt spid="4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5" presetID="22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zoom">
                            <p:cBhvr>
                              <p:cTn id="436" dur="500" fill="hold"/>
                              <p:tgtEl>
                                <p:spTgt spid="4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7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38" dur="700" fill="hold"/>
                              <p:tgtEl>
                                <p:spTgt spid="4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9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440" dur="700" fill="hold"/>
                              <p:tgtEl>
                                <p:spTgt spid="4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1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442" dur="700" fill="hold"/>
                              <p:tgtEl>
                                <p:spTgt spid="4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3" presetID="2" presetClass="entr" presetSubtype="8" fill="hold" grpId="0" nodeType="clickEffect">
                        <p:stCondLst>
                          <p:cond delay="1000"/>
                        </p:stCondLst>
                        <p:childTnLst>
                          <p:animEffect transition="in" filter="fly">
                            <p:cBhvr>
                              <p:cTn id="444" dur="600" fill="hold"/>
                              <p:tgtEl>
                                <p:spTgt spid="4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5" presetID="22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zoom">
                            <p:cBhvr>
                              <p:cTn id="446" dur="500" fill="hold"/>
                              <p:tgtEl>
                                <p:spTgt spid="4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7" presetID="22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zoom">
                            <p:cBhvr>
                              <p:cTn id="448" dur="500" fill="hold"/>
                              <p:tgtEl>
                                <p:spTgt spid="4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450" dur="700" fill="hold"/>
                              <p:tgtEl>
                                <p:spTgt spid="4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1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452" dur="700" fill="hold"/>
                              <p:tgtEl>
                                <p:spTgt spid="4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3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454" dur="700" fill="hold"/>
                              <p:tgtEl>
                                <p:spTgt spid="45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1020"/>
              </a:gs>
              <a:gs pos="100000">
                <a:srgbClr val="0a221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029200"/>
            <a:ext cx="3657600" cy="3657600"/>
          </a:xfrm>
          <a:prstGeom prst="rect">
            <a:avLst/>
          </a:prstGeom>
          <a:solidFill>
            <a:srgbClr val="004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686800" y="-914400"/>
            <a:ext cx="3657600" cy="3657600"/>
          </a:xfrm>
          <a:prstGeom prst="rect">
            <a:avLst/>
          </a:prstGeom>
          <a:solidFill>
            <a:srgbClr val="00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⚽ 🌟 🇧🇩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"If We Want Global Success,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457200" y="21945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853"/>
                </a:solidFill>
                <a:latin typeface="Segoe UI"/>
              </a:rPr>
              <a:t>We Must First Build Strong Local Football."</a:t>
            </a:r>
          </a:p>
        </p:txBody>
      </p:sp>
      <p:sp>
        <p:nvSpPr>
          <p:cNvPr id="465" name="Rectangle 464"/>
          <p:cNvSpPr/>
          <p:nvPr/>
        </p:nvSpPr>
        <p:spPr>
          <a:xfrm>
            <a:off x="3200400" y="3291840"/>
            <a:ext cx="5788152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700"/>
                </a:solidFill>
                <a:latin typeface="Segoe UI"/>
              </a:rPr>
              <a:t>🔑  Key Takeaway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Bangladesh has the passion — it needs the structure, promotion &amp; investment.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BPL can grow if youth are engaged through smart digital strategies &amp; quality football.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A strong local league is the foundation of every great footballing nation.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You! 🙏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7755"/>
                </a:solidFill>
                <a:latin typeface="Segoe UI"/>
              </a:rPr>
              <a:t>© Copyright by Tahorim Somrat  |  BPL Football Presentation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455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56" dur="700" fill="hold"/>
                              <p:tgtEl>
                                <p:spTgt spid="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58" dur="700" fill="hold"/>
                              <p:tgtEl>
                                <p:spTgt spid="4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9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460" dur="500" fill="hold"/>
                              <p:tgtEl>
                                <p:spTgt spid="4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1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462" dur="600" fill="hold"/>
                              <p:tgtEl>
                                <p:spTgt spid="4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3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64" dur="600" fill="hold"/>
                              <p:tgtEl>
                                <p:spTgt spid="4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5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466" dur="700" fill="hold"/>
                              <p:tgtEl>
                                <p:spTgt spid="4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7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68" dur="700" fill="hold"/>
                              <p:tgtEl>
                                <p:spTgt spid="4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9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470" dur="700" fill="hold"/>
                              <p:tgtEl>
                                <p:spTgt spid="4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1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472" dur="700" fill="hold"/>
                              <p:tgtEl>
                                <p:spTgt spid="4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3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474" dur="700" fill="hold"/>
                              <p:tgtEl>
                                <p:spTgt spid="4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5" presetID="22" presetClass="entr" presetSubtype="0" fill="hold" grpId="0" nodeType="clickEffect">
                        <p:stCondLst>
                          <p:cond delay="1700"/>
                        </p:stCondLst>
                        <p:childTnLst>
                          <p:animEffect transition="in" filter="zoom">
                            <p:cBhvr>
                              <p:cTn id="476" dur="500" fill="hold"/>
                              <p:tgtEl>
                                <p:spTgt spid="4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78" dur="700" fill="hold"/>
                              <p:tgtEl>
                                <p:spTgt spid="47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