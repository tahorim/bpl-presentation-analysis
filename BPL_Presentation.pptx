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gradFill rotWithShape="1">
            <a:gsLst>
              <a:gs pos="0">
                <a:srgbClr val="0a0e1a"/>
              </a:gs>
              <a:gs pos="100000">
                <a:srgbClr val="10182e"/>
              </a:gs>
            </a:gsLst>
            <a:lin ang="54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12188952" cy="45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657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700"/>
                </a:solidFill>
                <a:latin typeface="Segoe UI"/>
              </a:rPr>
              <a:t>⚽ 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Segoe UI"/>
              </a:rPr>
              <a:t>Why Bangladesh Premier League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C853"/>
                </a:solidFill>
                <a:latin typeface="Segoe UI"/>
              </a:rPr>
              <a:t>Fails to Attract Urban Youth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91840"/>
            <a:ext cx="4572000" cy="457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4747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D6E8"/>
                </a:solidFill>
                <a:latin typeface="Segoe UI"/>
              </a:rPr>
              <a:t>A Research-Based Presentation on Football Culture &amp; Fan Behavior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06240"/>
            <a:ext cx="5029200" cy="2194560"/>
          </a:xfrm>
          <a:prstGeom prst="rect">
            <a:avLst/>
          </a:prstGeom>
          <a:solidFill>
            <a:srgbClr val="1018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206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700"/>
                </a:solidFill>
                <a:latin typeface="Segoe UI"/>
              </a:rPr>
              <a:t>Presented by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1772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▸  Member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928616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▸  Member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239512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▸  Member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55040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▸  Member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861304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▸  Member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822960"/>
            <a:ext cx="5212080" cy="5212080"/>
          </a:xfrm>
          <a:prstGeom prst="rect">
            <a:avLst/>
          </a:prstGeom>
          <a:noFill/>
          <a:ln w="317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user_spli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868680"/>
            <a:ext cx="5120640" cy="512064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0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0" y="6656832"/>
            <a:ext cx="121889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BB"/>
                </a:solidFill>
                <a:latin typeface="Segoe UI"/>
              </a:rPr>
              <a:t>© Copyright by Tahorim Somrat  |  BPL Football Presentation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3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4" dur="7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" presetID="10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fade">
                            <p:cBhvr>
                              <p:cTn id="6" dur="700" fill="hold"/>
                              <p:tgtEl>
                                <p:spTgt spid="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7" presetID="10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fade">
                            <p:cBhvr>
                              <p:cTn id="8" dur="700" fill="hold"/>
                              <p:tgtEl>
                                <p:spTgt spid="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10" dur="600" fill="hold"/>
                              <p:tgtEl>
                                <p:spTgt spid="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" presetID="2" presetClass="entr" presetSubtype="8" fill="hold" grpId="0" nodeType="clickEffect">
                        <p:stCondLst>
                          <p:cond delay="500"/>
                        </p:stCondLst>
                        <p:childTnLst>
                          <p:animEffect transition="in" filter="fly">
                            <p:cBhvr>
                              <p:cTn id="12" dur="600" fill="hold"/>
                              <p:tgtEl>
                                <p:spTgt spid="1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3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14" dur="700" fill="hold"/>
                              <p:tgtEl>
                                <p:spTgt spid="1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16" dur="700" fill="hold"/>
                              <p:tgtEl>
                                <p:spTgt spid="1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7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18" dur="700" fill="hold"/>
                              <p:tgtEl>
                                <p:spTgt spid="1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20" dur="700" fill="hold"/>
                              <p:tgtEl>
                                <p:spTgt spid="1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22" dur="700" fill="hold"/>
                              <p:tgtEl>
                                <p:spTgt spid="2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" presetID="10" presetClass="entr" presetSubtype="0" fill="hold" grpId="0" nodeType="clickEffect">
                        <p:stCondLst>
                          <p:cond delay="1250"/>
                        </p:stCondLst>
                        <p:childTnLst>
                          <p:animEffect transition="in" filter="fade">
                            <p:cBhvr>
                              <p:cTn id="24" dur="700" fill="hold"/>
                              <p:tgtEl>
                                <p:spTgt spid="2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26" dur="700" fill="hold"/>
                              <p:tgtEl>
                                <p:spTgt spid="2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" presetID="10" presetClass="entr" presetSubtype="0" fill="hold" grpId="0" nodeType="clickEffect">
                        <p:stCondLst>
                          <p:cond delay="1550"/>
                        </p:stCondLst>
                        <p:childTnLst>
                          <p:animEffect transition="in" filter="fade">
                            <p:cBhvr>
                              <p:cTn id="28" dur="700" fill="hold"/>
                              <p:tgtEl>
                                <p:spTgt spid="2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9" presetID="10" presetClass="entr" presetSubtype="0" fill="hold" grpId="0" nodeType="clickEffect">
                        <p:stCondLst>
                          <p:cond delay="1700"/>
                        </p:stCondLst>
                        <p:childTnLst>
                          <p:animEffect transition="in" filter="fade">
                            <p:cBhvr>
                              <p:cTn id="30" dur="700" fill="hold"/>
                              <p:tgtEl>
                                <p:spTgt spid="2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" presetID="22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zoom">
                            <p:cBhvr>
                              <p:cTn id="32" dur="500" fill="hold"/>
                              <p:tgtEl>
                                <p:spTgt spid="3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" presetID="22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zoom">
                            <p:cBhvr>
                              <p:cTn id="34" dur="500" fill="hold"/>
                              <p:tgtEl>
                                <p:spTgt spid="3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36" dur="700" fill="hold"/>
                              <p:tgtEl>
                                <p:spTgt spid="3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38" dur="700" fill="hold"/>
                              <p:tgtEl>
                                <p:spTgt spid="37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2560320" cy="45720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182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THE REALITY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8229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Segoe UI"/>
              </a:rPr>
              <a:t>Bangladesh Loves Football ❤️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15087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D700"/>
                </a:solidFill>
                <a:latin typeface="Segoe UI"/>
              </a:rPr>
              <a:t>BUT…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205740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1744"/>
                </a:solidFill>
                <a:latin typeface="Segoe UI"/>
              </a:rPr>
              <a:t>Bangladesh Doesn't Watch Local Football 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2788920"/>
            <a:ext cx="11274552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2926080"/>
            <a:ext cx="5303520" cy="3383280"/>
          </a:xfrm>
          <a:prstGeom prst="rect">
            <a:avLst/>
          </a:prstGeom>
          <a:solidFill>
            <a:srgbClr val="082A18"/>
          </a:solidFill>
          <a:ln w="254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30175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C853"/>
                </a:solidFill>
                <a:latin typeface="Segoe UI"/>
              </a:rPr>
              <a:t>🌍  European Football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3611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✔  Millions of Bangladeshi Fans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4096512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✔  Huge Social Media Buzz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4581144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✔  Packed Stadiums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5065776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✔  Global Star Players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555040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✔  Premium Broadcasting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28232" y="2926080"/>
            <a:ext cx="5303520" cy="3383280"/>
          </a:xfrm>
          <a:prstGeom prst="rect">
            <a:avLst/>
          </a:prstGeom>
          <a:solidFill>
            <a:srgbClr val="2A0808"/>
          </a:solidFill>
          <a:ln w="2540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11112" y="30175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744"/>
                </a:solidFill>
                <a:latin typeface="Segoe UI"/>
              </a:rPr>
              <a:t>🇧🇩  Bangladesh Premier League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11112" y="3611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❌  Low Stadium Attendance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11112" y="4096512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❌  Limited Media Attention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11112" y="458114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❌  Less Excitement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11112" y="506577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❌  No Star Promotion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11112" y="555040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Segoe UI"/>
              </a:rPr>
              <a:t>❌  Weak Broadcasting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0" y="4114800"/>
            <a:ext cx="1216152" cy="1216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400" y="4206240"/>
            <a:ext cx="1216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0E1A"/>
                </a:solidFill>
                <a:latin typeface="Segoe UI"/>
              </a:rPr>
              <a:t>VS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39" presetID="22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zoom">
                            <p:cBhvr>
                              <p:cTn id="40" dur="5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" presetID="22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zoom">
                            <p:cBhvr>
                              <p:cTn id="42" dur="500" fill="hold"/>
                              <p:tgtEl>
                                <p:spTgt spid="4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" presetID="2" presetClass="entr" presetSubtype="8" fill="hold" grpId="0" nodeType="clickEffect">
                        <p:stCondLst>
                          <p:cond delay="200"/>
                        </p:stCondLst>
                        <p:childTnLst>
                          <p:animEffect transition="in" filter="fly">
                            <p:cBhvr>
                              <p:cTn id="44" dur="600" fill="hold"/>
                              <p:tgtEl>
                                <p:spTgt spid="4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5" presetID="2" presetClass="entr" presetSubtype="8" fill="hold" grpId="0" nodeType="clickEffect">
                        <p:stCondLst>
                          <p:cond delay="400"/>
                        </p:stCondLst>
                        <p:childTnLst>
                          <p:animEffect transition="in" filter="fly">
                            <p:cBhvr>
                              <p:cTn id="46" dur="600" fill="hold"/>
                              <p:tgtEl>
                                <p:spTgt spid="4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" presetID="2" presetClass="entr" presetSubtype="8" fill="hold" grpId="0" nodeType="clickEffect">
                        <p:stCondLst>
                          <p:cond delay="600"/>
                        </p:stCondLst>
                        <p:childTnLst>
                          <p:animEffect transition="in" filter="fly">
                            <p:cBhvr>
                              <p:cTn id="48" dur="600" fill="hold"/>
                              <p:tgtEl>
                                <p:spTgt spid="4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9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50" dur="700" fill="hold"/>
                              <p:tgtEl>
                                <p:spTgt spid="4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1" presetID="2" presetClass="entr" presetSubtype="8" fill="hold" grpId="0" nodeType="clickEffect">
                        <p:stCondLst>
                          <p:cond delay="800"/>
                        </p:stCondLst>
                        <p:childTnLst>
                          <p:animEffect transition="in" filter="fly">
                            <p:cBhvr>
                              <p:cTn id="52" dur="600" fill="hold"/>
                              <p:tgtEl>
                                <p:spTgt spid="5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3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54" dur="700" fill="hold"/>
                              <p:tgtEl>
                                <p:spTgt spid="5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5" presetID="10" presetClass="entr" presetSubtype="0" fill="hold" grpId="0" nodeType="clickEffect">
                        <p:stCondLst>
                          <p:cond delay="1050"/>
                        </p:stCondLst>
                        <p:childTnLst>
                          <p:animEffect transition="in" filter="fade">
                            <p:cBhvr>
                              <p:cTn id="56" dur="700" fill="hold"/>
                              <p:tgtEl>
                                <p:spTgt spid="5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7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58" dur="700" fill="hold"/>
                              <p:tgtEl>
                                <p:spTgt spid="5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59" presetID="10" presetClass="entr" presetSubtype="0" fill="hold" grpId="0" nodeType="clickEffect">
                        <p:stCondLst>
                          <p:cond delay="1350"/>
                        </p:stCondLst>
                        <p:childTnLst>
                          <p:animEffect transition="in" filter="fade">
                            <p:cBhvr>
                              <p:cTn id="60" dur="700" fill="hold"/>
                              <p:tgtEl>
                                <p:spTgt spid="5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61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62" dur="700" fill="hold"/>
                              <p:tgtEl>
                                <p:spTgt spid="6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63" presetID="2" presetClass="entr" presetSubtype="8" fill="hold" grpId="0" nodeType="clickEffect">
                        <p:stCondLst>
                          <p:cond delay="800"/>
                        </p:stCondLst>
                        <p:childTnLst>
                          <p:animEffect transition="in" filter="fly">
                            <p:cBhvr>
                              <p:cTn id="64" dur="600" fill="hold"/>
                              <p:tgtEl>
                                <p:spTgt spid="6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65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66" dur="700" fill="hold"/>
                              <p:tgtEl>
                                <p:spTgt spid="66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67" presetID="10" presetClass="entr" presetSubtype="0" fill="hold" grpId="0" nodeType="clickEffect">
                        <p:stCondLst>
                          <p:cond delay="1050"/>
                        </p:stCondLst>
                        <p:childTnLst>
                          <p:animEffect transition="in" filter="fade">
                            <p:cBhvr>
                              <p:cTn id="68" dur="700" fill="hold"/>
                              <p:tgtEl>
                                <p:spTgt spid="6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69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70" dur="700" fill="hold"/>
                              <p:tgtEl>
                                <p:spTgt spid="6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71" presetID="10" presetClass="entr" presetSubtype="0" fill="hold" grpId="0" nodeType="clickEffect">
                        <p:stCondLst>
                          <p:cond delay="1350"/>
                        </p:stCondLst>
                        <p:childTnLst>
                          <p:animEffect transition="in" filter="fade">
                            <p:cBhvr>
                              <p:cTn id="72" dur="700" fill="hold"/>
                              <p:tgtEl>
                                <p:spTgt spid="7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73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74" dur="700" fill="hold"/>
                              <p:tgtEl>
                                <p:spTgt spid="7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75" presetID="22" presetClass="entr" presetSubtype="0" fill="hold" grpId="0" nodeType="clickEffect">
                        <p:stCondLst>
                          <p:cond delay="850"/>
                        </p:stCondLst>
                        <p:childTnLst>
                          <p:animEffect transition="in" filter="zoom">
                            <p:cBhvr>
                              <p:cTn id="76" dur="500" fill="hold"/>
                              <p:tgtEl>
                                <p:spTgt spid="7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77" presetID="22" presetClass="entr" presetSubtype="0" fill="hold" grpId="0" nodeType="clickEffect">
                        <p:stCondLst>
                          <p:cond delay="850"/>
                        </p:stCondLst>
                        <p:childTnLst>
                          <p:animEffect transition="in" filter="zoom">
                            <p:cBhvr>
                              <p:cTn id="78" dur="500" fill="hold"/>
                              <p:tgtEl>
                                <p:spTgt spid="77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060e20"/>
              </a:gs>
              <a:gs pos="100000">
                <a:srgbClr val="0c1e40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3657600" cy="3657600"/>
          </a:xfrm>
          <a:prstGeom prst="rect">
            <a:avLst/>
          </a:prstGeom>
          <a:solidFill>
            <a:srgbClr val="0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144000" y="4114800"/>
            <a:ext cx="3657600" cy="3657600"/>
          </a:xfrm>
          <a:prstGeom prst="rect">
            <a:avLst/>
          </a:prstGeom>
          <a:solidFill>
            <a:srgbClr val="0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114800" y="3108960"/>
            <a:ext cx="3959352" cy="54864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2286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Segoe UI"/>
              </a:rPr>
              <a:t>Main Reasons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D6E8"/>
                </a:solidFill>
                <a:latin typeface="Segoe UI"/>
              </a:rPr>
              <a:t>Why Urban Youth Choose European Football Over BPL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79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80" dur="7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81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82" dur="700" fill="hold"/>
                              <p:tgtEl>
                                <p:spTgt spid="8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83" presetID="10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fade">
                            <p:cBhvr>
                              <p:cTn id="84" dur="700" fill="hold"/>
                              <p:tgtEl>
                                <p:spTgt spid="8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85" presetID="22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zoom">
                            <p:cBhvr>
                              <p:cTn id="86" dur="500" fill="hold"/>
                              <p:tgtEl>
                                <p:spTgt spid="8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87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88" dur="700" fill="hold"/>
                              <p:tgtEl>
                                <p:spTgt spid="87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Segoe UI"/>
              </a:rPr>
              <a:t>Why Youth Prefer European Football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D6E8"/>
                </a:solidFill>
                <a:latin typeface="Segoe UI"/>
              </a:rPr>
              <a:t>Key factors driving youth engagement with European clubs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1417320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02920" y="15087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71600" y="149047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FF"/>
                </a:solidFill>
                <a:latin typeface="Segoe UI"/>
              </a:rPr>
              <a:t>Better Quality Football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71600" y="187451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High-level skills, tactics &amp; competitive matches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65760" y="2404872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02920" y="24963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⭐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371600" y="2478024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  <a:latin typeface="Segoe UI"/>
              </a:rPr>
              <a:t>World-Famous Players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371600" y="286207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Mbappe, Haaland, Vinicius Jr – global icons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65760" y="3392424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02920" y="3483864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🎉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371600" y="3465576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53"/>
                </a:solidFill>
                <a:latin typeface="Segoe UI"/>
              </a:rPr>
              <a:t>Electric Stadium Atmosphere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371600" y="384962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Chants, fan culture, sold-out arenas worldwide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379976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AA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02920" y="447141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📺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371600" y="445312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A00FF"/>
                </a:solidFill>
                <a:latin typeface="Segoe UI"/>
              </a:rPr>
              <a:t>Superior Broadcasting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371600" y="483717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HD telecasts, multiple camera angles, analytics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65760" y="5367528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0" y="545896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🌐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371600" y="54406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1744"/>
                </a:solidFill>
                <a:latin typeface="Segoe UI"/>
              </a:rPr>
              <a:t>Global Brand Power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371600" y="582472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Massive merchandise, documentaries &amp; digital reach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89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90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1" presetID="10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fade">
                            <p:cBhvr>
                              <p:cTn id="92" dur="700" fill="hold"/>
                              <p:tgtEl>
                                <p:spTgt spid="9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3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94" dur="600" fill="hold"/>
                              <p:tgtEl>
                                <p:spTgt spid="9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5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96" dur="700" fill="hold"/>
                              <p:tgtEl>
                                <p:spTgt spid="9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7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98" dur="700" fill="hold"/>
                              <p:tgtEl>
                                <p:spTgt spid="9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99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100" dur="700" fill="hold"/>
                              <p:tgtEl>
                                <p:spTgt spid="9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01" presetID="2" presetClass="entr" presetSubtype="8" fill="hold" grpId="0" nodeType="clickEffect">
                        <p:stCondLst>
                          <p:cond delay="500"/>
                        </p:stCondLst>
                        <p:childTnLst>
                          <p:animEffect transition="in" filter="fly">
                            <p:cBhvr>
                              <p:cTn id="102" dur="600" fill="hold"/>
                              <p:tgtEl>
                                <p:spTgt spid="10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03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104" dur="700" fill="hold"/>
                              <p:tgtEl>
                                <p:spTgt spid="10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05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106" dur="700" fill="hold"/>
                              <p:tgtEl>
                                <p:spTgt spid="10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07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108" dur="700" fill="hold"/>
                              <p:tgtEl>
                                <p:spTgt spid="10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09" presetID="2" presetClass="entr" presetSubtype="8" fill="hold" grpId="0" nodeType="clickEffect">
                        <p:stCondLst>
                          <p:cond delay="700"/>
                        </p:stCondLst>
                        <p:childTnLst>
                          <p:animEffect transition="in" filter="fly">
                            <p:cBhvr>
                              <p:cTn id="110" dur="600" fill="hold"/>
                              <p:tgtEl>
                                <p:spTgt spid="10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1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112" dur="700" fill="hold"/>
                              <p:tgtEl>
                                <p:spTgt spid="11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3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114" dur="700" fill="hold"/>
                              <p:tgtEl>
                                <p:spTgt spid="11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5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116" dur="700" fill="hold"/>
                              <p:tgtEl>
                                <p:spTgt spid="11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7" presetID="2" presetClass="entr" presetSubtype="8" fill="hold" grpId="0" nodeType="clickEffect">
                        <p:stCondLst>
                          <p:cond delay="900"/>
                        </p:stCondLst>
                        <p:childTnLst>
                          <p:animEffect transition="in" filter="fly">
                            <p:cBhvr>
                              <p:cTn id="118" dur="600" fill="hold"/>
                              <p:tgtEl>
                                <p:spTgt spid="11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19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120" dur="700" fill="hold"/>
                              <p:tgtEl>
                                <p:spTgt spid="11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21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122" dur="700" fill="hold"/>
                              <p:tgtEl>
                                <p:spTgt spid="12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23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124" dur="700" fill="hold"/>
                              <p:tgtEl>
                                <p:spTgt spid="12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25" presetID="2" presetClass="entr" presetSubtype="8" fill="hold" grpId="0" nodeType="clickEffect">
                        <p:stCondLst>
                          <p:cond delay="1100"/>
                        </p:stCondLst>
                        <p:childTnLst>
                          <p:animEffect transition="in" filter="fly">
                            <p:cBhvr>
                              <p:cTn id="126" dur="600" fill="hold"/>
                              <p:tgtEl>
                                <p:spTgt spid="12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27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128" dur="700" fill="hold"/>
                              <p:tgtEl>
                                <p:spTgt spid="12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29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130" dur="700" fill="hold"/>
                              <p:tgtEl>
                                <p:spTgt spid="12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31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132" dur="700" fill="hold"/>
                              <p:tgtEl>
                                <p:spTgt spid="131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Why Bangladesh Premier League Struggles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D6E8"/>
                </a:solidFill>
                <a:latin typeface="Segoe UI"/>
              </a:rPr>
              <a:t>Core problems holding back BPL's growth &amp; popularity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65760" y="1417320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02920" y="15087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📣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371600" y="14904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1744"/>
                </a:solidFill>
                <a:latin typeface="Segoe UI"/>
              </a:rPr>
              <a:t>Poor Marketing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371600" y="1874519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No aggressive campaigns; clubs unknown outside hardcore fans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65760" y="2404872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02920" y="24963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📡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371600" y="247802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7700"/>
                </a:solidFill>
                <a:latin typeface="Segoe UI"/>
              </a:rPr>
              <a:t>Weak Broadcasting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371600" y="286207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Low-quality streams, no international coverage or distribution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65760" y="3392424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02920" y="3483864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🌟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371600" y="346557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  <a:latin typeface="Segoe UI"/>
              </a:rPr>
              <a:t>No Star Promotion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371600" y="384962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Local players not built into media personalities or heroes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65760" y="4379976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AA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502920" y="447141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🏟️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371600" y="445312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A00FF"/>
                </a:solidFill>
                <a:latin typeface="Segoe UI"/>
              </a:rPr>
              <a:t>Poor Match Experience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371600" y="4837176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Uncomfortable stadiums, lack of fan zones &amp; entertainment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5367528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02920" y="545896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Segoe UI"/>
              </a:rPr>
              <a:t>📢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71600" y="54406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FF"/>
                </a:solidFill>
                <a:latin typeface="Segoe UI"/>
              </a:rPr>
              <a:t>Lack of Awareness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371600" y="582472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Youth simply don't know fixtures, standings, or club stories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133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134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35" presetID="10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fade">
                            <p:cBhvr>
                              <p:cTn id="136" dur="700" fill="hold"/>
                              <p:tgtEl>
                                <p:spTgt spid="13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37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138" dur="600" fill="hold"/>
                              <p:tgtEl>
                                <p:spTgt spid="13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39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140" dur="700" fill="hold"/>
                              <p:tgtEl>
                                <p:spTgt spid="13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41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142" dur="700" fill="hold"/>
                              <p:tgtEl>
                                <p:spTgt spid="14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43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144" dur="700" fill="hold"/>
                              <p:tgtEl>
                                <p:spTgt spid="14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45" presetID="2" presetClass="entr" presetSubtype="8" fill="hold" grpId="0" nodeType="clickEffect">
                        <p:stCondLst>
                          <p:cond delay="500"/>
                        </p:stCondLst>
                        <p:childTnLst>
                          <p:animEffect transition="in" filter="fly">
                            <p:cBhvr>
                              <p:cTn id="146" dur="600" fill="hold"/>
                              <p:tgtEl>
                                <p:spTgt spid="14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47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148" dur="700" fill="hold"/>
                              <p:tgtEl>
                                <p:spTgt spid="14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49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150" dur="700" fill="hold"/>
                              <p:tgtEl>
                                <p:spTgt spid="14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1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152" dur="700" fill="hold"/>
                              <p:tgtEl>
                                <p:spTgt spid="15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3" presetID="2" presetClass="entr" presetSubtype="8" fill="hold" grpId="0" nodeType="clickEffect">
                        <p:stCondLst>
                          <p:cond delay="700"/>
                        </p:stCondLst>
                        <p:childTnLst>
                          <p:animEffect transition="in" filter="fly">
                            <p:cBhvr>
                              <p:cTn id="154" dur="600" fill="hold"/>
                              <p:tgtEl>
                                <p:spTgt spid="15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5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156" dur="700" fill="hold"/>
                              <p:tgtEl>
                                <p:spTgt spid="15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7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158" dur="700" fill="hold"/>
                              <p:tgtEl>
                                <p:spTgt spid="15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59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160" dur="700" fill="hold"/>
                              <p:tgtEl>
                                <p:spTgt spid="15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61" presetID="2" presetClass="entr" presetSubtype="8" fill="hold" grpId="0" nodeType="clickEffect">
                        <p:stCondLst>
                          <p:cond delay="900"/>
                        </p:stCondLst>
                        <p:childTnLst>
                          <p:animEffect transition="in" filter="fly">
                            <p:cBhvr>
                              <p:cTn id="162" dur="600" fill="hold"/>
                              <p:tgtEl>
                                <p:spTgt spid="16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63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164" dur="700" fill="hold"/>
                              <p:tgtEl>
                                <p:spTgt spid="16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65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166" dur="700" fill="hold"/>
                              <p:tgtEl>
                                <p:spTgt spid="16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67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168" dur="700" fill="hold"/>
                              <p:tgtEl>
                                <p:spTgt spid="16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69" presetID="2" presetClass="entr" presetSubtype="8" fill="hold" grpId="0" nodeType="clickEffect">
                        <p:stCondLst>
                          <p:cond delay="1100"/>
                        </p:stCondLst>
                        <p:childTnLst>
                          <p:animEffect transition="in" filter="fly">
                            <p:cBhvr>
                              <p:cTn id="170" dur="600" fill="hold"/>
                              <p:tgtEl>
                                <p:spTgt spid="16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71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172" dur="700" fill="hold"/>
                              <p:tgtEl>
                                <p:spTgt spid="17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73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174" dur="700" fill="hold"/>
                              <p:tgtEl>
                                <p:spTgt spid="17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75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176" dur="700" fill="hold"/>
                              <p:tgtEl>
                                <p:spTgt spid="175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060e20"/>
              </a:gs>
              <a:gs pos="100000">
                <a:srgbClr val="0c1e40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3657600" cy="3657600"/>
          </a:xfrm>
          <a:prstGeom prst="rect">
            <a:avLst/>
          </a:prstGeom>
          <a:solidFill>
            <a:srgbClr val="0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9144000" y="4114800"/>
            <a:ext cx="3657600" cy="3657600"/>
          </a:xfrm>
          <a:prstGeom prst="rect">
            <a:avLst/>
          </a:prstGeom>
          <a:solidFill>
            <a:srgbClr val="0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114800" y="3108960"/>
            <a:ext cx="3959352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57200" y="2286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Segoe UI"/>
              </a:rPr>
              <a:t>Digital Media &amp; Fan Psychology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D6E8"/>
                </a:solidFill>
                <a:latin typeface="Segoe UI"/>
              </a:rPr>
              <a:t>How Online Platforms Shape Football Preferences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177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178" dur="7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79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180" dur="700" fill="hold"/>
                              <p:tgtEl>
                                <p:spTgt spid="17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81" presetID="10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fade">
                            <p:cBhvr>
                              <p:cTn id="182" dur="700" fill="hold"/>
                              <p:tgtEl>
                                <p:spTgt spid="18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83" presetID="22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zoom">
                            <p:cBhvr>
                              <p:cTn id="184" dur="500" fill="hold"/>
                              <p:tgtEl>
                                <p:spTgt spid="18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85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186" dur="700" fill="hold"/>
                              <p:tgtEl>
                                <p:spTgt spid="185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Social Media Influence on Football Preference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640080" y="1097280"/>
            <a:ext cx="1645920" cy="1645920"/>
          </a:xfrm>
          <a:prstGeom prst="rect">
            <a:avLst/>
          </a:prstGeom>
          <a:solidFill>
            <a:srgbClr val="10182E"/>
          </a:solidFill>
          <a:ln w="25400">
            <a:solidFill>
              <a:srgbClr val="E13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40080" y="11887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"/>
              </a:rPr>
              <a:t>📷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40080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1306C"/>
                </a:solidFill>
                <a:latin typeface="Segoe UI"/>
              </a:rPr>
              <a:t>Instagram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2834639" y="1097280"/>
            <a:ext cx="1645920" cy="1645920"/>
          </a:xfrm>
          <a:prstGeom prst="rect">
            <a:avLst/>
          </a:prstGeom>
          <a:solidFill>
            <a:srgbClr val="10182E"/>
          </a:solidFill>
          <a:ln w="254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2834639" y="11887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"/>
              </a:rPr>
              <a:t>📘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2834639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8BFF"/>
                </a:solidFill>
                <a:latin typeface="Segoe UI"/>
              </a:rPr>
              <a:t>Facebook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5029200" y="1097280"/>
            <a:ext cx="1645920" cy="1645920"/>
          </a:xfrm>
          <a:prstGeom prst="rect">
            <a:avLst/>
          </a:prstGeom>
          <a:solidFill>
            <a:srgbClr val="10182E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5029200" y="11887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"/>
              </a:rPr>
              <a:t>🎵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5029200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F2EA"/>
                </a:solidFill>
                <a:latin typeface="Segoe UI"/>
              </a:rPr>
              <a:t>TikTok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7223759" y="1097280"/>
            <a:ext cx="1645920" cy="1645920"/>
          </a:xfrm>
          <a:prstGeom prst="rect">
            <a:avLst/>
          </a:prstGeom>
          <a:solidFill>
            <a:srgbClr val="10182E"/>
          </a:solidFill>
          <a:ln w="2540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7223759" y="11887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"/>
              </a:rPr>
              <a:t>▶️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7223759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1744"/>
                </a:solidFill>
                <a:latin typeface="Segoe UI"/>
              </a:rPr>
              <a:t>YouTube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9418319" y="1097280"/>
            <a:ext cx="1645920" cy="1645920"/>
          </a:xfrm>
          <a:prstGeom prst="rect">
            <a:avLst/>
          </a:prstGeom>
          <a:solidFill>
            <a:srgbClr val="10182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9418319" y="11887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"/>
              </a:rPr>
              <a:t>🐦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9418319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X (Twitter)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457200" y="3017520"/>
            <a:ext cx="11274552" cy="36576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457200" y="3200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C853"/>
                </a:solidFill>
                <a:latin typeface="Segoe UI"/>
              </a:rPr>
              <a:t>🌍  European Clubs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57200" y="37490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📈  Daily Content Uploads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57200" y="42519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🎬  Reels, Shorts &amp; Highlights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57200" y="47548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💬  Millions of Comments &amp; Shares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57200" y="5257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🌐  Global Viral Campaigns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457200" y="5760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⚡  Real-time Engagement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6400800" y="3200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744"/>
                </a:solidFill>
                <a:latin typeface="Segoe UI"/>
              </a:rPr>
              <a:t>🇧🇩  Bangladesh Clubs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400800" y="37490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📉  Limited Content Output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6400800" y="42519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😴  Outdated Posts &amp; Graphics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6400800" y="47548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🔇  Almost No Online Presence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6400800" y="5257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🚫  No Viral Campaigns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400800" y="5760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❄️  Very Low Fan Interaction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5486400" y="3840480"/>
            <a:ext cx="1216152" cy="121615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5486400" y="3931920"/>
            <a:ext cx="1216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0E1A"/>
                </a:solidFill>
                <a:latin typeface="Segoe UI"/>
              </a:rPr>
              <a:t>VS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187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188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89" presetID="22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zoom">
                            <p:cBhvr>
                              <p:cTn id="190" dur="500" fill="hold"/>
                              <p:tgtEl>
                                <p:spTgt spid="18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1" presetID="22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zoom">
                            <p:cBhvr>
                              <p:cTn id="192" dur="500" fill="hold"/>
                              <p:tgtEl>
                                <p:spTgt spid="19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3" presetID="10" presetClass="entr" presetSubtype="0" fill="hold" grpId="0" nodeType="clickEffect">
                        <p:stCondLst>
                          <p:cond delay="350"/>
                        </p:stCondLst>
                        <p:childTnLst>
                          <p:animEffect transition="in" filter="fade">
                            <p:cBhvr>
                              <p:cTn id="194" dur="700" fill="hold"/>
                              <p:tgtEl>
                                <p:spTgt spid="19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5" presetID="22" presetClass="entr" presetSubtype="0" fill="hold" grpId="0" nodeType="clickEffect">
                        <p:stCondLst>
                          <p:cond delay="350"/>
                        </p:stCondLst>
                        <p:childTnLst>
                          <p:animEffect transition="in" filter="zoom">
                            <p:cBhvr>
                              <p:cTn id="196" dur="500" fill="hold"/>
                              <p:tgtEl>
                                <p:spTgt spid="19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7" presetID="22" presetClass="entr" presetSubtype="0" fill="hold" grpId="0" nodeType="clickEffect">
                        <p:stCondLst>
                          <p:cond delay="350"/>
                        </p:stCondLst>
                        <p:childTnLst>
                          <p:animEffect transition="in" filter="zoom">
                            <p:cBhvr>
                              <p:cTn id="198" dur="500" fill="hold"/>
                              <p:tgtEl>
                                <p:spTgt spid="19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199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200" dur="700" fill="hold"/>
                              <p:tgtEl>
                                <p:spTgt spid="19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01" presetID="22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zoom">
                            <p:cBhvr>
                              <p:cTn id="202" dur="500" fill="hold"/>
                              <p:tgtEl>
                                <p:spTgt spid="20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03" presetID="22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zoom">
                            <p:cBhvr>
                              <p:cTn id="204" dur="500" fill="hold"/>
                              <p:tgtEl>
                                <p:spTgt spid="20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05" presetID="10" presetClass="entr" presetSubtype="0" fill="hold" grpId="0" nodeType="clickEffect">
                        <p:stCondLst>
                          <p:cond delay="650"/>
                        </p:stCondLst>
                        <p:childTnLst>
                          <p:animEffect transition="in" filter="fade">
                            <p:cBhvr>
                              <p:cTn id="206" dur="700" fill="hold"/>
                              <p:tgtEl>
                                <p:spTgt spid="20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07" presetID="22" presetClass="entr" presetSubtype="0" fill="hold" grpId="0" nodeType="clickEffect">
                        <p:stCondLst>
                          <p:cond delay="650"/>
                        </p:stCondLst>
                        <p:childTnLst>
                          <p:animEffect transition="in" filter="zoom">
                            <p:cBhvr>
                              <p:cTn id="208" dur="500" fill="hold"/>
                              <p:tgtEl>
                                <p:spTgt spid="20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09" presetID="22" presetClass="entr" presetSubtype="0" fill="hold" grpId="0" nodeType="clickEffect">
                        <p:stCondLst>
                          <p:cond delay="650"/>
                        </p:stCondLst>
                        <p:childTnLst>
                          <p:animEffect transition="in" filter="zoom">
                            <p:cBhvr>
                              <p:cTn id="210" dur="500" fill="hold"/>
                              <p:tgtEl>
                                <p:spTgt spid="20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1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212" dur="700" fill="hold"/>
                              <p:tgtEl>
                                <p:spTgt spid="21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3" presetID="22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zoom">
                            <p:cBhvr>
                              <p:cTn id="214" dur="500" fill="hold"/>
                              <p:tgtEl>
                                <p:spTgt spid="21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5" presetID="22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zoom">
                            <p:cBhvr>
                              <p:cTn id="216" dur="500" fill="hold"/>
                              <p:tgtEl>
                                <p:spTgt spid="21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7" presetID="10" presetClass="entr" presetSubtype="0" fill="hold" grpId="0" nodeType="clickEffect">
                        <p:stCondLst>
                          <p:cond delay="950"/>
                        </p:stCondLst>
                        <p:childTnLst>
                          <p:animEffect transition="in" filter="fade">
                            <p:cBhvr>
                              <p:cTn id="218" dur="700" fill="hold"/>
                              <p:tgtEl>
                                <p:spTgt spid="21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19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220" dur="700" fill="hold"/>
                              <p:tgtEl>
                                <p:spTgt spid="21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21" presetID="2" presetClass="entr" presetSubtype="8" fill="hold" grpId="0" nodeType="clickEffect">
                        <p:stCondLst>
                          <p:cond delay="1100"/>
                        </p:stCondLst>
                        <p:childTnLst>
                          <p:animEffect transition="in" filter="fly">
                            <p:cBhvr>
                              <p:cTn id="222" dur="600" fill="hold"/>
                              <p:tgtEl>
                                <p:spTgt spid="22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23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224" dur="700" fill="hold"/>
                              <p:tgtEl>
                                <p:spTgt spid="22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25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226" dur="700" fill="hold"/>
                              <p:tgtEl>
                                <p:spTgt spid="22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27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228" dur="700" fill="hold"/>
                              <p:tgtEl>
                                <p:spTgt spid="22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29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230" dur="700" fill="hold"/>
                              <p:tgtEl>
                                <p:spTgt spid="22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1" presetID="10" presetClass="entr" presetSubtype="0" fill="hold" grpId="0" nodeType="clickEffect">
                        <p:stCondLst>
                          <p:cond delay="1600"/>
                        </p:stCondLst>
                        <p:childTnLst>
                          <p:animEffect transition="in" filter="fade">
                            <p:cBhvr>
                              <p:cTn id="232" dur="700" fill="hold"/>
                              <p:tgtEl>
                                <p:spTgt spid="23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3" presetID="2" presetClass="entr" presetSubtype="8" fill="hold" grpId="0" nodeType="clickEffect">
                        <p:stCondLst>
                          <p:cond delay="1100"/>
                        </p:stCondLst>
                        <p:childTnLst>
                          <p:animEffect transition="in" filter="fly">
                            <p:cBhvr>
                              <p:cTn id="234" dur="600" fill="hold"/>
                              <p:tgtEl>
                                <p:spTgt spid="23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5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236" dur="700" fill="hold"/>
                              <p:tgtEl>
                                <p:spTgt spid="23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7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238" dur="700" fill="hold"/>
                              <p:tgtEl>
                                <p:spTgt spid="23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39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240" dur="700" fill="hold"/>
                              <p:tgtEl>
                                <p:spTgt spid="23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41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242" dur="700" fill="hold"/>
                              <p:tgtEl>
                                <p:spTgt spid="24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43" presetID="10" presetClass="entr" presetSubtype="0" fill="hold" grpId="0" nodeType="clickEffect">
                        <p:stCondLst>
                          <p:cond delay="1600"/>
                        </p:stCondLst>
                        <p:childTnLst>
                          <p:animEffect transition="in" filter="fade">
                            <p:cBhvr>
                              <p:cTn id="244" dur="700" fill="hold"/>
                              <p:tgtEl>
                                <p:spTgt spid="24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45" presetID="22" presetClass="entr" presetSubtype="0" fill="hold" grpId="0" nodeType="clickEffect">
                        <p:stCondLst>
                          <p:cond delay="1150"/>
                        </p:stCondLst>
                        <p:childTnLst>
                          <p:animEffect transition="in" filter="zoom">
                            <p:cBhvr>
                              <p:cTn id="246" dur="500" fill="hold"/>
                              <p:tgtEl>
                                <p:spTgt spid="245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Fan Psychology: What Drives People to Support a Club?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D6E8"/>
                </a:solidFill>
                <a:latin typeface="Segoe UI"/>
              </a:rPr>
              <a:t>Understanding what fans truly seek in football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365760" y="1371600"/>
            <a:ext cx="5303520" cy="2468880"/>
          </a:xfrm>
          <a:prstGeom prst="rect">
            <a:avLst/>
          </a:prstGeom>
          <a:solidFill>
            <a:srgbClr val="10182E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502920" y="146304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Segoe UI"/>
              </a:rPr>
              <a:t>⭐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554480" y="1508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  <a:latin typeface="Segoe UI"/>
              </a:rPr>
              <a:t>Heroes &amp; Role Models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548640" y="2194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Fans follow players they admire &amp; aspire to be like.
Bangladesh needs local football heroes.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6400800" y="1371600"/>
            <a:ext cx="5303520" cy="2468880"/>
          </a:xfrm>
          <a:prstGeom prst="rect">
            <a:avLst/>
          </a:prstGeom>
          <a:solidFill>
            <a:srgbClr val="10182E"/>
          </a:solidFill>
          <a:ln w="2540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6537960" y="146304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Segoe UI"/>
              </a:rPr>
              <a:t>❤️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589520" y="1508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1744"/>
                </a:solidFill>
                <a:latin typeface="Segoe UI"/>
              </a:rPr>
              <a:t>Emotional Connection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6583680" y="2194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Club identity, city pride &amp; community create belonging.
BPL clubs lack strong fan identities.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365760" y="3657600"/>
            <a:ext cx="5303520" cy="2468880"/>
          </a:xfrm>
          <a:prstGeom prst="rect">
            <a:avLst/>
          </a:prstGeom>
          <a:solidFill>
            <a:srgbClr val="10182E"/>
          </a:solidFill>
          <a:ln w="254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502920" y="3749039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Segoe UI"/>
              </a:rPr>
              <a:t>🏆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554480" y="3794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53"/>
                </a:solidFill>
                <a:latin typeface="Segoe UI"/>
              </a:rPr>
              <a:t>Winning Culture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548640" y="4480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People love to associate with winners &amp; champions.
European clubs have trophies &amp; history.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6400800" y="3657600"/>
            <a:ext cx="5303520" cy="2468880"/>
          </a:xfrm>
          <a:prstGeom prst="rect">
            <a:avLst/>
          </a:prstGeom>
          <a:solidFill>
            <a:srgbClr val="10182E"/>
          </a:solidFill>
          <a:ln w="254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6537960" y="3749039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Segoe UI"/>
              </a:rPr>
              <a:t>📱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7589520" y="37947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FF"/>
                </a:solidFill>
                <a:latin typeface="Segoe UI"/>
              </a:rPr>
              <a:t>Entertainment Value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6583680" y="4480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Football must compete with Netflix, gaming &amp; YouTube.
BPL needs to be more thrilling &amp; accessible.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247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248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49" presetID="10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fade">
                            <p:cBhvr>
                              <p:cTn id="250" dur="700" fill="hold"/>
                              <p:tgtEl>
                                <p:spTgt spid="24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1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252" dur="600" fill="hold"/>
                              <p:tgtEl>
                                <p:spTgt spid="25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3" presetID="22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zoom">
                            <p:cBhvr>
                              <p:cTn id="254" dur="500" fill="hold"/>
                              <p:tgtEl>
                                <p:spTgt spid="25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5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256" dur="700" fill="hold"/>
                              <p:tgtEl>
                                <p:spTgt spid="25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7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258" dur="700" fill="hold"/>
                              <p:tgtEl>
                                <p:spTgt spid="25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59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260" dur="600" fill="hold"/>
                              <p:tgtEl>
                                <p:spTgt spid="25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61" presetID="22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zoom">
                            <p:cBhvr>
                              <p:cTn id="262" dur="500" fill="hold"/>
                              <p:tgtEl>
                                <p:spTgt spid="26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63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264" dur="700" fill="hold"/>
                              <p:tgtEl>
                                <p:spTgt spid="26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65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266" dur="700" fill="hold"/>
                              <p:tgtEl>
                                <p:spTgt spid="26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67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268" dur="600" fill="hold"/>
                              <p:tgtEl>
                                <p:spTgt spid="26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69" presetID="22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zoom">
                            <p:cBhvr>
                              <p:cTn id="270" dur="500" fill="hold"/>
                              <p:tgtEl>
                                <p:spTgt spid="26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1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272" dur="700" fill="hold"/>
                              <p:tgtEl>
                                <p:spTgt spid="27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3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274" dur="700" fill="hold"/>
                              <p:tgtEl>
                                <p:spTgt spid="27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5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276" dur="600" fill="hold"/>
                              <p:tgtEl>
                                <p:spTgt spid="27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7" presetID="22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zoom">
                            <p:cBhvr>
                              <p:cTn id="278" dur="500" fill="hold"/>
                              <p:tgtEl>
                                <p:spTgt spid="27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79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280" dur="700" fill="hold"/>
                              <p:tgtEl>
                                <p:spTgt spid="27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81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282" dur="700" fill="hold"/>
                              <p:tgtEl>
                                <p:spTgt spid="281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060e20"/>
              </a:gs>
              <a:gs pos="100000">
                <a:srgbClr val="0c1e40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3657600" cy="3657600"/>
          </a:xfrm>
          <a:prstGeom prst="rect">
            <a:avLst/>
          </a:prstGeom>
          <a:solidFill>
            <a:srgbClr val="0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9144000" y="4114800"/>
            <a:ext cx="3657600" cy="3657600"/>
          </a:xfrm>
          <a:prstGeom prst="rect">
            <a:avLst/>
          </a:prstGeom>
          <a:solidFill>
            <a:srgbClr val="0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4114800" y="3108960"/>
            <a:ext cx="3959352" cy="54864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457200" y="2286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Segoe UI"/>
              </a:rPr>
              <a:t>Financial &amp; Structural Challenges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D6E8"/>
                </a:solidFill>
                <a:latin typeface="Segoe UI"/>
              </a:rPr>
              <a:t>Deep-Rooted Problems in BPL Organization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283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284" dur="7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85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286" dur="700" fill="hold"/>
                              <p:tgtEl>
                                <p:spTgt spid="28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87" presetID="10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fade">
                            <p:cBhvr>
                              <p:cTn id="288" dur="700" fill="hold"/>
                              <p:tgtEl>
                                <p:spTgt spid="28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89" presetID="22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zoom">
                            <p:cBhvr>
                              <p:cTn id="290" dur="500" fill="hold"/>
                              <p:tgtEl>
                                <p:spTgt spid="28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91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292" dur="700" fill="hold"/>
                              <p:tgtEl>
                                <p:spTgt spid="291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Segoe UI"/>
              </a:rPr>
              <a:t>Financial Challenges: A Vicious Cycle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914400" y="118872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005840" y="12801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💰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1828800" y="155448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1744"/>
                </a:solidFill>
                <a:latin typeface="Segoe UI"/>
              </a:rPr>
              <a:t>Low Revenue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3840480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700"/>
                </a:solidFill>
                <a:latin typeface="Segoe UI"/>
              </a:rPr>
              <a:t>→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4389120" y="118872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4480559" y="12801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📉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5303520" y="155448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7700"/>
                </a:solidFill>
                <a:latin typeface="Segoe UI"/>
              </a:rPr>
              <a:t>Less Investment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7315200" y="16459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700"/>
                </a:solidFill>
                <a:latin typeface="Segoe UI"/>
              </a:rPr>
              <a:t>→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863840" y="118872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7955279" y="128016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🏚️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8778240" y="155448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  <a:latin typeface="Segoe UI"/>
              </a:rPr>
              <a:t>Poor Facilities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9144000" y="2560320"/>
            <a:ext cx="457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700"/>
                </a:solidFill>
                <a:latin typeface="Segoe UI"/>
              </a:rPr>
              <a:t>↓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14400" y="411480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AA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05840" y="42062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⬇️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1828800" y="44805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ACC00"/>
                </a:solidFill>
                <a:latin typeface="Segoe UI"/>
              </a:rPr>
              <a:t>Lower Quality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365760" y="4572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700"/>
                </a:solidFill>
                <a:latin typeface="Segoe UI"/>
              </a:rPr>
              <a:t>←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389120" y="411480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4480559" y="42062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👎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5303520" y="44805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C853"/>
                </a:solidFill>
                <a:latin typeface="Segoe UI"/>
              </a:rPr>
              <a:t>Less Audience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3840480" y="4572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700"/>
                </a:solidFill>
                <a:latin typeface="Segoe UI"/>
              </a:rPr>
              <a:t>←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7863840" y="4114800"/>
            <a:ext cx="2926080" cy="1371600"/>
          </a:xfrm>
          <a:prstGeom prst="rect">
            <a:avLst/>
          </a:prstGeom>
          <a:solidFill>
            <a:srgbClr val="10182E"/>
          </a:solidFill>
          <a:ln w="2540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7955279" y="42062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🔁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8778240" y="44805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8BFF"/>
                </a:solidFill>
                <a:latin typeface="Segoe UI"/>
              </a:rPr>
              <a:t>Again Low Revenue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D700"/>
                </a:solidFill>
                <a:latin typeface="Segoe UI"/>
              </a:rPr>
              <a:t>🔄  This cycle repeats — breaking it requires bold structural reform!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293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294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95" presetID="22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zoom">
                            <p:cBhvr>
                              <p:cTn id="296" dur="500" fill="hold"/>
                              <p:tgtEl>
                                <p:spTgt spid="29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97" presetID="10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fade">
                            <p:cBhvr>
                              <p:cTn id="298" dur="700" fill="hold"/>
                              <p:tgtEl>
                                <p:spTgt spid="29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299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300" dur="700" fill="hold"/>
                              <p:tgtEl>
                                <p:spTgt spid="29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01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302" dur="700" fill="hold"/>
                              <p:tgtEl>
                                <p:spTgt spid="30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03" presetID="22" presetClass="entr" presetSubtype="0" fill="hold" grpId="0" nodeType="clickEffect">
                        <p:stCondLst>
                          <p:cond delay="450"/>
                        </p:stCondLst>
                        <p:childTnLst>
                          <p:animEffect transition="in" filter="zoom">
                            <p:cBhvr>
                              <p:cTn id="304" dur="500" fill="hold"/>
                              <p:tgtEl>
                                <p:spTgt spid="30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05" presetID="10" presetClass="entr" presetSubtype="0" fill="hold" grpId="0" nodeType="clickEffect">
                        <p:stCondLst>
                          <p:cond delay="550"/>
                        </p:stCondLst>
                        <p:childTnLst>
                          <p:animEffect transition="in" filter="fade">
                            <p:cBhvr>
                              <p:cTn id="306" dur="700" fill="hold"/>
                              <p:tgtEl>
                                <p:spTgt spid="30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07" presetID="10" presetClass="entr" presetSubtype="0" fill="hold" grpId="0" nodeType="clickEffect">
                        <p:stCondLst>
                          <p:cond delay="650"/>
                        </p:stCondLst>
                        <p:childTnLst>
                          <p:animEffect transition="in" filter="fade">
                            <p:cBhvr>
                              <p:cTn id="308" dur="700" fill="hold"/>
                              <p:tgtEl>
                                <p:spTgt spid="30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09" presetID="10" presetClass="entr" presetSubtype="0" fill="hold" grpId="0" nodeType="clickEffect">
                        <p:stCondLst>
                          <p:cond delay="750"/>
                        </p:stCondLst>
                        <p:childTnLst>
                          <p:animEffect transition="in" filter="fade">
                            <p:cBhvr>
                              <p:cTn id="310" dur="700" fill="hold"/>
                              <p:tgtEl>
                                <p:spTgt spid="30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1" presetID="22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zoom">
                            <p:cBhvr>
                              <p:cTn id="312" dur="500" fill="hold"/>
                              <p:tgtEl>
                                <p:spTgt spid="31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3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314" dur="700" fill="hold"/>
                              <p:tgtEl>
                                <p:spTgt spid="31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5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316" dur="700" fill="hold"/>
                              <p:tgtEl>
                                <p:spTgt spid="31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7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318" dur="700" fill="hold"/>
                              <p:tgtEl>
                                <p:spTgt spid="31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19" presetID="22" presetClass="entr" presetSubtype="0" fill="hold" grpId="0" nodeType="clickEffect">
                        <p:stCondLst>
                          <p:cond delay="950"/>
                        </p:stCondLst>
                        <p:childTnLst>
                          <p:animEffect transition="in" filter="zoom">
                            <p:cBhvr>
                              <p:cTn id="320" dur="500" fill="hold"/>
                              <p:tgtEl>
                                <p:spTgt spid="31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21" presetID="10" presetClass="entr" presetSubtype="0" fill="hold" grpId="0" nodeType="clickEffect">
                        <p:stCondLst>
                          <p:cond delay="1050"/>
                        </p:stCondLst>
                        <p:childTnLst>
                          <p:animEffect transition="in" filter="fade">
                            <p:cBhvr>
                              <p:cTn id="322" dur="700" fill="hold"/>
                              <p:tgtEl>
                                <p:spTgt spid="32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23" presetID="10" presetClass="entr" presetSubtype="0" fill="hold" grpId="0" nodeType="clickEffect">
                        <p:stCondLst>
                          <p:cond delay="1150"/>
                        </p:stCondLst>
                        <p:childTnLst>
                          <p:animEffect transition="in" filter="fade">
                            <p:cBhvr>
                              <p:cTn id="324" dur="700" fill="hold"/>
                              <p:tgtEl>
                                <p:spTgt spid="32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25" presetID="10" presetClass="entr" presetSubtype="0" fill="hold" grpId="0" nodeType="clickEffect">
                        <p:stCondLst>
                          <p:cond delay="1250"/>
                        </p:stCondLst>
                        <p:childTnLst>
                          <p:animEffect transition="in" filter="fade">
                            <p:cBhvr>
                              <p:cTn id="326" dur="700" fill="hold"/>
                              <p:tgtEl>
                                <p:spTgt spid="32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27" presetID="22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zoom">
                            <p:cBhvr>
                              <p:cTn id="328" dur="500" fill="hold"/>
                              <p:tgtEl>
                                <p:spTgt spid="32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29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330" dur="700" fill="hold"/>
                              <p:tgtEl>
                                <p:spTgt spid="32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1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332" dur="700" fill="hold"/>
                              <p:tgtEl>
                                <p:spTgt spid="33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3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334" dur="700" fill="hold"/>
                              <p:tgtEl>
                                <p:spTgt spid="33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5" presetID="22" presetClass="entr" presetSubtype="0" fill="hold" grpId="0" nodeType="clickEffect">
                        <p:stCondLst>
                          <p:cond delay="1450"/>
                        </p:stCondLst>
                        <p:childTnLst>
                          <p:animEffect transition="in" filter="zoom">
                            <p:cBhvr>
                              <p:cTn id="336" dur="500" fill="hold"/>
                              <p:tgtEl>
                                <p:spTgt spid="33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7" presetID="10" presetClass="entr" presetSubtype="0" fill="hold" grpId="0" nodeType="clickEffect">
                        <p:stCondLst>
                          <p:cond delay="1550"/>
                        </p:stCondLst>
                        <p:childTnLst>
                          <p:animEffect transition="in" filter="fade">
                            <p:cBhvr>
                              <p:cTn id="338" dur="700" fill="hold"/>
                              <p:tgtEl>
                                <p:spTgt spid="33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39" presetID="10" presetClass="entr" presetSubtype="0" fill="hold" grpId="0" nodeType="clickEffect">
                        <p:stCondLst>
                          <p:cond delay="1650"/>
                        </p:stCondLst>
                        <p:childTnLst>
                          <p:animEffect transition="in" filter="fade">
                            <p:cBhvr>
                              <p:cTn id="340" dur="700" fill="hold"/>
                              <p:tgtEl>
                                <p:spTgt spid="33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41" presetID="10" presetClass="entr" presetSubtype="0" fill="hold" grpId="0" nodeType="clickEffect">
                        <p:stCondLst>
                          <p:cond delay="1800"/>
                        </p:stCondLst>
                        <p:childTnLst>
                          <p:animEffect transition="in" filter="fade">
                            <p:cBhvr>
                              <p:cTn id="342" dur="700" fill="hold"/>
                              <p:tgtEl>
                                <p:spTgt spid="341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7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Management Challenges Holding BPL Back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D6E8"/>
                </a:solidFill>
                <a:latin typeface="Segoe UI"/>
              </a:rPr>
              <a:t>Structural reforms are needed at every level of the league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365760" y="1417320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502920" y="15087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📋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371600" y="149047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7700"/>
                </a:solidFill>
                <a:latin typeface="Segoe UI"/>
              </a:rPr>
              <a:t>League Management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4846320" y="164592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Segoe UI"/>
              </a:rPr>
              <a:t>Professional league governance &amp; transparent operations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365760" y="2404872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502920" y="24963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📅</a:t>
            </a:r>
          </a:p>
        </p:txBody>
      </p:sp>
      <p:sp>
        <p:nvSpPr>
          <p:cNvPr id="359" name="TextBox 358"/>
          <p:cNvSpPr txBox="1"/>
          <p:nvPr/>
        </p:nvSpPr>
        <p:spPr>
          <a:xfrm>
            <a:off x="1371600" y="247802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  <a:latin typeface="Segoe UI"/>
              </a:rPr>
              <a:t>Match Scheduling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4846320" y="2633472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Segoe UI"/>
              </a:rPr>
              <a:t>Consistent, well-planned fixtures avoiding conflicts</a:t>
            </a:r>
          </a:p>
        </p:txBody>
      </p:sp>
      <p:sp>
        <p:nvSpPr>
          <p:cNvPr id="363" name="Rectangle 362"/>
          <p:cNvSpPr/>
          <p:nvPr/>
        </p:nvSpPr>
        <p:spPr>
          <a:xfrm>
            <a:off x="365760" y="3392424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502920" y="3483864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🤝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1371600" y="3465576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53"/>
                </a:solidFill>
                <a:latin typeface="Segoe UI"/>
              </a:rPr>
              <a:t>Sponsorship Deals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4846320" y="3621024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Segoe UI"/>
              </a:rPr>
              <a:t>Corporate partnerships to inject capital into clubs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365760" y="4379976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502920" y="447141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🧒</a:t>
            </a:r>
          </a:p>
        </p:txBody>
      </p:sp>
      <p:sp>
        <p:nvSpPr>
          <p:cNvPr id="375" name="TextBox 374"/>
          <p:cNvSpPr txBox="1"/>
          <p:nvPr/>
        </p:nvSpPr>
        <p:spPr>
          <a:xfrm>
            <a:off x="1371600" y="445312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FF"/>
                </a:solidFill>
                <a:latin typeface="Segoe UI"/>
              </a:rPr>
              <a:t>Youth Academies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4846320" y="4608576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Segoe UI"/>
              </a:rPr>
              <a:t>Long-term player development pipelines for future stars</a:t>
            </a:r>
          </a:p>
        </p:txBody>
      </p:sp>
      <p:sp>
        <p:nvSpPr>
          <p:cNvPr id="379" name="Rectangle 378"/>
          <p:cNvSpPr/>
          <p:nvPr/>
        </p:nvSpPr>
        <p:spPr>
          <a:xfrm>
            <a:off x="365760" y="5367528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AA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502920" y="545896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🎨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1371600" y="54406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A00FF"/>
                </a:solidFill>
                <a:latin typeface="Segoe UI"/>
              </a:rPr>
              <a:t>Club Branding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4846320" y="5596128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Segoe UI"/>
              </a:rPr>
              <a:t>Professional logos, kits, identity &amp; fan merchandise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343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344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45" presetID="10" presetClass="entr" presetSubtype="0" fill="hold" grpId="0" nodeType="clickEffect">
                        <p:stCondLst>
                          <p:cond delay="200"/>
                        </p:stCondLst>
                        <p:childTnLst>
                          <p:animEffect transition="in" filter="fade">
                            <p:cBhvr>
                              <p:cTn id="346" dur="700" fill="hold"/>
                              <p:tgtEl>
                                <p:spTgt spid="34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47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348" dur="600" fill="hold"/>
                              <p:tgtEl>
                                <p:spTgt spid="34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49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350" dur="700" fill="hold"/>
                              <p:tgtEl>
                                <p:spTgt spid="34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1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352" dur="700" fill="hold"/>
                              <p:tgtEl>
                                <p:spTgt spid="35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3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354" dur="700" fill="hold"/>
                              <p:tgtEl>
                                <p:spTgt spid="35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5" presetID="2" presetClass="entr" presetSubtype="8" fill="hold" grpId="0" nodeType="clickEffect">
                        <p:stCondLst>
                          <p:cond delay="500"/>
                        </p:stCondLst>
                        <p:childTnLst>
                          <p:animEffect transition="in" filter="fly">
                            <p:cBhvr>
                              <p:cTn id="356" dur="600" fill="hold"/>
                              <p:tgtEl>
                                <p:spTgt spid="35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7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358" dur="700" fill="hold"/>
                              <p:tgtEl>
                                <p:spTgt spid="35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59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360" dur="700" fill="hold"/>
                              <p:tgtEl>
                                <p:spTgt spid="35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61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362" dur="700" fill="hold"/>
                              <p:tgtEl>
                                <p:spTgt spid="36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63" presetID="2" presetClass="entr" presetSubtype="8" fill="hold" grpId="0" nodeType="clickEffect">
                        <p:stCondLst>
                          <p:cond delay="700"/>
                        </p:stCondLst>
                        <p:childTnLst>
                          <p:animEffect transition="in" filter="fly">
                            <p:cBhvr>
                              <p:cTn id="364" dur="600" fill="hold"/>
                              <p:tgtEl>
                                <p:spTgt spid="36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65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366" dur="700" fill="hold"/>
                              <p:tgtEl>
                                <p:spTgt spid="36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67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368" dur="700" fill="hold"/>
                              <p:tgtEl>
                                <p:spTgt spid="36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69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370" dur="700" fill="hold"/>
                              <p:tgtEl>
                                <p:spTgt spid="36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1" presetID="2" presetClass="entr" presetSubtype="8" fill="hold" grpId="0" nodeType="clickEffect">
                        <p:stCondLst>
                          <p:cond delay="900"/>
                        </p:stCondLst>
                        <p:childTnLst>
                          <p:animEffect transition="in" filter="fly">
                            <p:cBhvr>
                              <p:cTn id="372" dur="600" fill="hold"/>
                              <p:tgtEl>
                                <p:spTgt spid="37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3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374" dur="700" fill="hold"/>
                              <p:tgtEl>
                                <p:spTgt spid="37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5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376" dur="700" fill="hold"/>
                              <p:tgtEl>
                                <p:spTgt spid="37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7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378" dur="700" fill="hold"/>
                              <p:tgtEl>
                                <p:spTgt spid="37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79" presetID="2" presetClass="entr" presetSubtype="8" fill="hold" grpId="0" nodeType="clickEffect">
                        <p:stCondLst>
                          <p:cond delay="1100"/>
                        </p:stCondLst>
                        <p:childTnLst>
                          <p:animEffect transition="in" filter="fly">
                            <p:cBhvr>
                              <p:cTn id="380" dur="600" fill="hold"/>
                              <p:tgtEl>
                                <p:spTgt spid="37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81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382" dur="700" fill="hold"/>
                              <p:tgtEl>
                                <p:spTgt spid="38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83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384" dur="700" fill="hold"/>
                              <p:tgtEl>
                                <p:spTgt spid="38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85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386" dur="700" fill="hold"/>
                              <p:tgtEl>
                                <p:spTgt spid="385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060e20"/>
              </a:gs>
              <a:gs pos="100000">
                <a:srgbClr val="0c1e40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3657600" cy="3657600"/>
          </a:xfrm>
          <a:prstGeom prst="rect">
            <a:avLst/>
          </a:prstGeom>
          <a:solidFill>
            <a:srgbClr val="006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9144000" y="4114800"/>
            <a:ext cx="3657600" cy="3657600"/>
          </a:xfrm>
          <a:prstGeom prst="rect">
            <a:avLst/>
          </a:prstGeom>
          <a:solidFill>
            <a:srgbClr val="00A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4114800" y="3108960"/>
            <a:ext cx="3959352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57200" y="2286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Segoe UI"/>
              </a:rPr>
              <a:t>Solutions &amp; Conclusion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D6E8"/>
                </a:solidFill>
                <a:latin typeface="Segoe UI"/>
              </a:rPr>
              <a:t>A Roadmap to Reviving Bangladesh Football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387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388" dur="700" fill="hold"/>
                              <p:tgtEl>
                                <p:spTgt spid="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89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390" dur="700" fill="hold"/>
                              <p:tgtEl>
                                <p:spTgt spid="38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91" presetID="10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fade">
                            <p:cBhvr>
                              <p:cTn id="392" dur="700" fill="hold"/>
                              <p:tgtEl>
                                <p:spTgt spid="39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93" presetID="22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zoom">
                            <p:cBhvr>
                              <p:cTn id="394" dur="500" fill="hold"/>
                              <p:tgtEl>
                                <p:spTgt spid="39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95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396" dur="700" fill="hold"/>
                              <p:tgtEl>
                                <p:spTgt spid="395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1828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34466"/>
                </a:solidFill>
                <a:latin typeface="Segoe U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How Can Bangladesh Football Improve? 🚀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365760" y="1417320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C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548640" y="1645920"/>
            <a:ext cx="411480" cy="41148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548640" y="16184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E1A"/>
                </a:solidFill>
                <a:latin typeface="Segoe UI"/>
              </a:rPr>
              <a:t>✓</a:t>
            </a:r>
          </a:p>
        </p:txBody>
      </p:sp>
      <p:sp>
        <p:nvSpPr>
          <p:cNvPr id="405" name="TextBox 404"/>
          <p:cNvSpPr txBox="1"/>
          <p:nvPr/>
        </p:nvSpPr>
        <p:spPr>
          <a:xfrm>
            <a:off x="1097280" y="15087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📣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1920240" y="14904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53"/>
                </a:solidFill>
                <a:latin typeface="Segoe UI"/>
              </a:rPr>
              <a:t>Better Marketing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5577840" y="164592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Run digital campaigns, influencer collaborations &amp; PR drives</a:t>
            </a:r>
          </a:p>
        </p:txBody>
      </p:sp>
      <p:sp>
        <p:nvSpPr>
          <p:cNvPr id="411" name="Rectangle 410"/>
          <p:cNvSpPr/>
          <p:nvPr/>
        </p:nvSpPr>
        <p:spPr>
          <a:xfrm>
            <a:off x="365760" y="2404872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548640" y="2633472"/>
            <a:ext cx="411480" cy="41148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TextBox 414"/>
          <p:cNvSpPr txBox="1"/>
          <p:nvPr/>
        </p:nvSpPr>
        <p:spPr>
          <a:xfrm>
            <a:off x="548640" y="26060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E1A"/>
                </a:solidFill>
                <a:latin typeface="Segoe UI"/>
              </a:rPr>
              <a:t>✓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1097280" y="249631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🏟️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1920240" y="247802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D700"/>
                </a:solidFill>
                <a:latin typeface="Segoe UI"/>
              </a:rPr>
              <a:t>Better Stadium Experience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5577840" y="2633472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Fan zones, music, food &amp; family-friendly match day events</a:t>
            </a:r>
          </a:p>
        </p:txBody>
      </p:sp>
      <p:sp>
        <p:nvSpPr>
          <p:cNvPr id="423" name="Rectangle 422"/>
          <p:cNvSpPr/>
          <p:nvPr/>
        </p:nvSpPr>
        <p:spPr>
          <a:xfrm>
            <a:off x="365760" y="3392424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008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548640" y="3621024"/>
            <a:ext cx="411480" cy="411480"/>
          </a:xfrm>
          <a:prstGeom prst="rect">
            <a:avLst/>
          </a:prstGeom>
          <a:solidFill>
            <a:srgbClr val="00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548640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E1A"/>
                </a:solidFill>
                <a:latin typeface="Segoe UI"/>
              </a:rPr>
              <a:t>✓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1097280" y="3483864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📱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920240" y="346557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BFF"/>
                </a:solidFill>
                <a:latin typeface="Segoe UI"/>
              </a:rPr>
              <a:t>Strong Social Media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5577840" y="3621024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Daily content, player features, BTS videos &amp; live engagement</a:t>
            </a:r>
          </a:p>
        </p:txBody>
      </p:sp>
      <p:sp>
        <p:nvSpPr>
          <p:cNvPr id="435" name="Rectangle 434"/>
          <p:cNvSpPr/>
          <p:nvPr/>
        </p:nvSpPr>
        <p:spPr>
          <a:xfrm>
            <a:off x="365760" y="4379976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AA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548640" y="4608576"/>
            <a:ext cx="411480" cy="411480"/>
          </a:xfrm>
          <a:prstGeom prst="rect">
            <a:avLst/>
          </a:prstGeom>
          <a:solidFill>
            <a:srgbClr val="AA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548640" y="458114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E1A"/>
                </a:solidFill>
                <a:latin typeface="Segoe UI"/>
              </a:rPr>
              <a:t>✓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1097280" y="447141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🏃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1920240" y="445312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A00FF"/>
                </a:solidFill>
                <a:latin typeface="Segoe UI"/>
              </a:rPr>
              <a:t>Youth Development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5577840" y="4608576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Grassroots football programs, school leagues &amp; academies</a:t>
            </a:r>
          </a:p>
        </p:txBody>
      </p:sp>
      <p:sp>
        <p:nvSpPr>
          <p:cNvPr id="447" name="Rectangle 446"/>
          <p:cNvSpPr/>
          <p:nvPr/>
        </p:nvSpPr>
        <p:spPr>
          <a:xfrm>
            <a:off x="365760" y="5367528"/>
            <a:ext cx="11430000" cy="868680"/>
          </a:xfrm>
          <a:prstGeom prst="rect">
            <a:avLst/>
          </a:prstGeom>
          <a:solidFill>
            <a:srgbClr val="10182E"/>
          </a:solidFill>
          <a:ln w="19050">
            <a:solidFill>
              <a:srgbClr val="FF17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548640" y="5596128"/>
            <a:ext cx="411480" cy="41148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TextBox 450"/>
          <p:cNvSpPr txBox="1"/>
          <p:nvPr/>
        </p:nvSpPr>
        <p:spPr>
          <a:xfrm>
            <a:off x="548640" y="556869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0E1A"/>
                </a:solidFill>
                <a:latin typeface="Segoe UI"/>
              </a:rPr>
              <a:t>✓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1097280" y="545896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"/>
              </a:rPr>
              <a:t>🎨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920240" y="54406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1744"/>
                </a:solidFill>
                <a:latin typeface="Segoe UI"/>
              </a:rPr>
              <a:t>Club Branding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5577840" y="5596128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Build club identity, merchandise, anthems &amp; loyal fan bases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397" presetID="2" presetClass="entr" presetSubtype="8" fill="hold" grpId="0" nodeType="clickEffect">
                        <p:stCondLst>
                          <p:cond delay="0"/>
                        </p:stCondLst>
                        <p:childTnLst>
                          <p:animEffect transition="in" filter="fly">
                            <p:cBhvr>
                              <p:cTn id="398" dur="600" fill="hold"/>
                              <p:tgtEl>
                                <p:spTgt spid="4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399" presetID="2" presetClass="entr" presetSubtype="8" fill="hold" grpId="0" nodeType="clickEffect">
                        <p:stCondLst>
                          <p:cond delay="200"/>
                        </p:stCondLst>
                        <p:childTnLst>
                          <p:animEffect transition="in" filter="fly">
                            <p:cBhvr>
                              <p:cTn id="400" dur="600" fill="hold"/>
                              <p:tgtEl>
                                <p:spTgt spid="39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01" presetID="22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zoom">
                            <p:cBhvr>
                              <p:cTn id="402" dur="500" fill="hold"/>
                              <p:tgtEl>
                                <p:spTgt spid="40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03" presetID="22" presetClass="entr" presetSubtype="0" fill="hold" grpId="0" nodeType="clickEffect">
                        <p:stCondLst>
                          <p:cond delay="300"/>
                        </p:stCondLst>
                        <p:childTnLst>
                          <p:animEffect transition="in" filter="zoom">
                            <p:cBhvr>
                              <p:cTn id="404" dur="500" fill="hold"/>
                              <p:tgtEl>
                                <p:spTgt spid="40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05" presetID="10" presetClass="entr" presetSubtype="0" fill="hold" grpId="0" nodeType="clickEffect">
                        <p:stCondLst>
                          <p:cond delay="400"/>
                        </p:stCondLst>
                        <p:childTnLst>
                          <p:animEffect transition="in" filter="fade">
                            <p:cBhvr>
                              <p:cTn id="406" dur="700" fill="hold"/>
                              <p:tgtEl>
                                <p:spTgt spid="40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07" presetID="10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fade">
                            <p:cBhvr>
                              <p:cTn id="408" dur="700" fill="hold"/>
                              <p:tgtEl>
                                <p:spTgt spid="40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09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410" dur="700" fill="hold"/>
                              <p:tgtEl>
                                <p:spTgt spid="40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1" presetID="2" presetClass="entr" presetSubtype="8" fill="hold" grpId="0" nodeType="clickEffect">
                        <p:stCondLst>
                          <p:cond delay="400"/>
                        </p:stCondLst>
                        <p:childTnLst>
                          <p:animEffect transition="in" filter="fly">
                            <p:cBhvr>
                              <p:cTn id="412" dur="600" fill="hold"/>
                              <p:tgtEl>
                                <p:spTgt spid="41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3" presetID="22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zoom">
                            <p:cBhvr>
                              <p:cTn id="414" dur="500" fill="hold"/>
                              <p:tgtEl>
                                <p:spTgt spid="41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5" presetID="22" presetClass="entr" presetSubtype="0" fill="hold" grpId="0" nodeType="clickEffect">
                        <p:stCondLst>
                          <p:cond delay="500"/>
                        </p:stCondLst>
                        <p:childTnLst>
                          <p:animEffect transition="in" filter="zoom">
                            <p:cBhvr>
                              <p:cTn id="416" dur="500" fill="hold"/>
                              <p:tgtEl>
                                <p:spTgt spid="41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7" presetID="10" presetClass="entr" presetSubtype="0" fill="hold" grpId="0" nodeType="clickEffect">
                        <p:stCondLst>
                          <p:cond delay="600"/>
                        </p:stCondLst>
                        <p:childTnLst>
                          <p:animEffect transition="in" filter="fade">
                            <p:cBhvr>
                              <p:cTn id="418" dur="700" fill="hold"/>
                              <p:tgtEl>
                                <p:spTgt spid="41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19" presetID="10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fade">
                            <p:cBhvr>
                              <p:cTn id="420" dur="700" fill="hold"/>
                              <p:tgtEl>
                                <p:spTgt spid="41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21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422" dur="700" fill="hold"/>
                              <p:tgtEl>
                                <p:spTgt spid="42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23" presetID="2" presetClass="entr" presetSubtype="8" fill="hold" grpId="0" nodeType="clickEffect">
                        <p:stCondLst>
                          <p:cond delay="600"/>
                        </p:stCondLst>
                        <p:childTnLst>
                          <p:animEffect transition="in" filter="fly">
                            <p:cBhvr>
                              <p:cTn id="424" dur="600" fill="hold"/>
                              <p:tgtEl>
                                <p:spTgt spid="42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25" presetID="22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zoom">
                            <p:cBhvr>
                              <p:cTn id="426" dur="500" fill="hold"/>
                              <p:tgtEl>
                                <p:spTgt spid="42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27" presetID="22" presetClass="entr" presetSubtype="0" fill="hold" grpId="0" nodeType="clickEffect">
                        <p:stCondLst>
                          <p:cond delay="700"/>
                        </p:stCondLst>
                        <p:childTnLst>
                          <p:animEffect transition="in" filter="zoom">
                            <p:cBhvr>
                              <p:cTn id="428" dur="500" fill="hold"/>
                              <p:tgtEl>
                                <p:spTgt spid="42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29" presetID="10" presetClass="entr" presetSubtype="0" fill="hold" grpId="0" nodeType="clickEffect">
                        <p:stCondLst>
                          <p:cond delay="800"/>
                        </p:stCondLst>
                        <p:childTnLst>
                          <p:animEffect transition="in" filter="fade">
                            <p:cBhvr>
                              <p:cTn id="430" dur="700" fill="hold"/>
                              <p:tgtEl>
                                <p:spTgt spid="42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1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432" dur="700" fill="hold"/>
                              <p:tgtEl>
                                <p:spTgt spid="43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3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434" dur="700" fill="hold"/>
                              <p:tgtEl>
                                <p:spTgt spid="43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5" presetID="2" presetClass="entr" presetSubtype="8" fill="hold" grpId="0" nodeType="clickEffect">
                        <p:stCondLst>
                          <p:cond delay="800"/>
                        </p:stCondLst>
                        <p:childTnLst>
                          <p:animEffect transition="in" filter="fly">
                            <p:cBhvr>
                              <p:cTn id="436" dur="600" fill="hold"/>
                              <p:tgtEl>
                                <p:spTgt spid="43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7" presetID="22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zoom">
                            <p:cBhvr>
                              <p:cTn id="438" dur="500" fill="hold"/>
                              <p:tgtEl>
                                <p:spTgt spid="43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39" presetID="22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zoom">
                            <p:cBhvr>
                              <p:cTn id="440" dur="500" fill="hold"/>
                              <p:tgtEl>
                                <p:spTgt spid="43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41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442" dur="700" fill="hold"/>
                              <p:tgtEl>
                                <p:spTgt spid="44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43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444" dur="700" fill="hold"/>
                              <p:tgtEl>
                                <p:spTgt spid="44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45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446" dur="700" fill="hold"/>
                              <p:tgtEl>
                                <p:spTgt spid="44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47" presetID="2" presetClass="entr" presetSubtype="8" fill="hold" grpId="0" nodeType="clickEffect">
                        <p:stCondLst>
                          <p:cond delay="1000"/>
                        </p:stCondLst>
                        <p:childTnLst>
                          <p:animEffect transition="in" filter="fly">
                            <p:cBhvr>
                              <p:cTn id="448" dur="600" fill="hold"/>
                              <p:tgtEl>
                                <p:spTgt spid="44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49" presetID="22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zoom">
                            <p:cBhvr>
                              <p:cTn id="450" dur="500" fill="hold"/>
                              <p:tgtEl>
                                <p:spTgt spid="44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51" presetID="22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zoom">
                            <p:cBhvr>
                              <p:cTn id="452" dur="500" fill="hold"/>
                              <p:tgtEl>
                                <p:spTgt spid="45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53" presetID="10" presetClass="entr" presetSubtype="0" fill="hold" grpId="0" nodeType="clickEffect">
                        <p:stCondLst>
                          <p:cond delay="1200"/>
                        </p:stCondLst>
                        <p:childTnLst>
                          <p:animEffect transition="in" filter="fade">
                            <p:cBhvr>
                              <p:cTn id="454" dur="700" fill="hold"/>
                              <p:tgtEl>
                                <p:spTgt spid="45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55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456" dur="700" fill="hold"/>
                              <p:tgtEl>
                                <p:spTgt spid="45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57" presetID="10" presetClass="entr" presetSubtype="0" fill="hold" grpId="0" nodeType="clickEffect">
                        <p:stCondLst>
                          <p:cond delay="1400"/>
                        </p:stCondLst>
                        <p:childTnLst>
                          <p:animEffect transition="in" filter="fade">
                            <p:cBhvr>
                              <p:cTn id="458" dur="700" fill="hold"/>
                              <p:tgtEl>
                                <p:spTgt spid="457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061020"/>
              </a:gs>
              <a:gs pos="100000">
                <a:srgbClr val="0a2210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88952" cy="457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029200"/>
            <a:ext cx="3657600" cy="3657600"/>
          </a:xfrm>
          <a:prstGeom prst="rect">
            <a:avLst/>
          </a:prstGeom>
          <a:solidFill>
            <a:srgbClr val="004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8686800" y="-914400"/>
            <a:ext cx="3657600" cy="3657600"/>
          </a:xfrm>
          <a:prstGeom prst="rect">
            <a:avLst/>
          </a:prstGeom>
          <a:solidFill>
            <a:srgbClr val="00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TextBox 462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"/>
              </a:rPr>
              <a:t>⚽ 🌟 🇧🇩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Segoe UI"/>
              </a:rPr>
              <a:t>"If We Want Global Success,</a:t>
            </a:r>
          </a:p>
        </p:txBody>
      </p:sp>
      <p:sp>
        <p:nvSpPr>
          <p:cNvPr id="467" name="TextBox 466"/>
          <p:cNvSpPr txBox="1"/>
          <p:nvPr/>
        </p:nvSpPr>
        <p:spPr>
          <a:xfrm>
            <a:off x="457200" y="21945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C853"/>
                </a:solidFill>
                <a:latin typeface="Segoe UI"/>
              </a:rPr>
              <a:t>We Must First Build Strong Local Football."</a:t>
            </a:r>
          </a:p>
        </p:txBody>
      </p:sp>
      <p:sp>
        <p:nvSpPr>
          <p:cNvPr id="469" name="Rectangle 468"/>
          <p:cNvSpPr/>
          <p:nvPr/>
        </p:nvSpPr>
        <p:spPr>
          <a:xfrm>
            <a:off x="3200400" y="3291840"/>
            <a:ext cx="5788152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TextBox 470"/>
          <p:cNvSpPr txBox="1"/>
          <p:nvPr/>
        </p:nvSpPr>
        <p:spPr>
          <a:xfrm>
            <a:off x="457200" y="35204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D700"/>
                </a:solidFill>
                <a:latin typeface="Segoe UI"/>
              </a:rPr>
              <a:t>🔑  Key Takeaway</a:t>
            </a:r>
          </a:p>
        </p:txBody>
      </p:sp>
      <p:sp>
        <p:nvSpPr>
          <p:cNvPr id="473" name="TextBox 472"/>
          <p:cNvSpPr txBox="1"/>
          <p:nvPr/>
        </p:nvSpPr>
        <p:spPr>
          <a:xfrm>
            <a:off x="914400" y="4160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▸  Bangladesh has the passion — it needs the structure, promotion &amp; investment.</a:t>
            </a:r>
          </a:p>
        </p:txBody>
      </p:sp>
      <p:sp>
        <p:nvSpPr>
          <p:cNvPr id="475" name="TextBox 474"/>
          <p:cNvSpPr txBox="1"/>
          <p:nvPr/>
        </p:nvSpPr>
        <p:spPr>
          <a:xfrm>
            <a:off x="914400" y="4663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▸  BPL can grow if youth are engaged through smart digital strategies &amp; quality football.</a:t>
            </a:r>
          </a:p>
        </p:txBody>
      </p:sp>
      <p:sp>
        <p:nvSpPr>
          <p:cNvPr id="477" name="TextBox 476"/>
          <p:cNvSpPr txBox="1"/>
          <p:nvPr/>
        </p:nvSpPr>
        <p:spPr>
          <a:xfrm>
            <a:off x="914400" y="51663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Segoe UI"/>
              </a:rPr>
              <a:t>▸  A strong local league is the foundation of every great footballing nation.</a:t>
            </a:r>
          </a:p>
        </p:txBody>
      </p:sp>
      <p:sp>
        <p:nvSpPr>
          <p:cNvPr id="479" name="TextBox 478"/>
          <p:cNvSpPr txBox="1"/>
          <p:nvPr/>
        </p:nvSpPr>
        <p:spPr>
          <a:xfrm>
            <a:off x="457200" y="57607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Thank You! 🙏</a:t>
            </a:r>
          </a:p>
        </p:txBody>
      </p:sp>
      <p:sp>
        <p:nvSpPr>
          <p:cNvPr id="481" name="TextBox 480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7755"/>
                </a:solidFill>
                <a:latin typeface="Segoe UI"/>
              </a:rPr>
              <a:t>© Copyright by Tahorim Somrat  |  BPL Football Presentation</a:t>
            </a:r>
          </a:p>
        </p:txBody>
      </p:sp>
    </p:spTree>
    <p:timing>
      <p:tnLst>
        <p:par>
          <p:cTn id="1" dur="indefinite" restart="whenNotActive" nodeType="tmRoot">
            <p:childTnLst>
              <p:seq concurrent="1" nextAc="seek">
                <p:cTn id="2" dur="indefinite" nodeType="mainSeq">
                  <p:childTnLst>
                    <p:par>
                      <p:cTn id="459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460" dur="700" fill="hold"/>
                              <p:tgtEl>
                                <p:spTgt spid="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61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462" dur="700" fill="hold"/>
                              <p:tgtEl>
                                <p:spTgt spid="46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63" presetID="22" presetClass="entr" presetSubtype="0" fill="hold" grpId="0" nodeType="clickEffect">
                        <p:stCondLst>
                          <p:cond delay="100"/>
                        </p:stCondLst>
                        <p:childTnLst>
                          <p:animEffect transition="in" filter="zoom">
                            <p:cBhvr>
                              <p:cTn id="464" dur="500" fill="hold"/>
                              <p:tgtEl>
                                <p:spTgt spid="46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65" presetID="2" presetClass="entr" presetSubtype="8" fill="hold" grpId="0" nodeType="clickEffect">
                        <p:stCondLst>
                          <p:cond delay="300"/>
                        </p:stCondLst>
                        <p:childTnLst>
                          <p:animEffect transition="in" filter="fly">
                            <p:cBhvr>
                              <p:cTn id="466" dur="600" fill="hold"/>
                              <p:tgtEl>
                                <p:spTgt spid="46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67" presetID="2" presetClass="entr" presetSubtype="8" fill="hold" grpId="0" nodeType="clickEffect">
                        <p:stCondLst>
                          <p:cond delay="600"/>
                        </p:stCondLst>
                        <p:childTnLst>
                          <p:animEffect transition="in" filter="fly">
                            <p:cBhvr>
                              <p:cTn id="468" dur="600" fill="hold"/>
                              <p:tgtEl>
                                <p:spTgt spid="46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69" presetID="10" presetClass="entr" presetSubtype="0" fill="hold" grpId="0" nodeType="clickEffect">
                        <p:stCondLst>
                          <p:cond delay="900"/>
                        </p:stCondLst>
                        <p:childTnLst>
                          <p:animEffect transition="in" filter="fade">
                            <p:cBhvr>
                              <p:cTn id="470" dur="700" fill="hold"/>
                              <p:tgtEl>
                                <p:spTgt spid="46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1" presetID="10" presetClass="entr" presetSubtype="0" fill="hold" grpId="0" nodeType="clickEffect">
                        <p:stCondLst>
                          <p:cond delay="1000"/>
                        </p:stCondLst>
                        <p:childTnLst>
                          <p:animEffect transition="in" filter="fade">
                            <p:cBhvr>
                              <p:cTn id="472" dur="700" fill="hold"/>
                              <p:tgtEl>
                                <p:spTgt spid="471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3" presetID="10" presetClass="entr" presetSubtype="0" fill="hold" grpId="0" nodeType="clickEffect">
                        <p:stCondLst>
                          <p:cond delay="1100"/>
                        </p:stCondLst>
                        <p:childTnLst>
                          <p:animEffect transition="in" filter="fade">
                            <p:cBhvr>
                              <p:cTn id="474" dur="700" fill="hold"/>
                              <p:tgtEl>
                                <p:spTgt spid="473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5" presetID="10" presetClass="entr" presetSubtype="0" fill="hold" grpId="0" nodeType="clickEffect">
                        <p:stCondLst>
                          <p:cond delay="1300"/>
                        </p:stCondLst>
                        <p:childTnLst>
                          <p:animEffect transition="in" filter="fade">
                            <p:cBhvr>
                              <p:cTn id="476" dur="700" fill="hold"/>
                              <p:tgtEl>
                                <p:spTgt spid="475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7" presetID="10" presetClass="entr" presetSubtype="0" fill="hold" grpId="0" nodeType="clickEffect">
                        <p:stCondLst>
                          <p:cond delay="1500"/>
                        </p:stCondLst>
                        <p:childTnLst>
                          <p:animEffect transition="in" filter="fade">
                            <p:cBhvr>
                              <p:cTn id="478" dur="700" fill="hold"/>
                              <p:tgtEl>
                                <p:spTgt spid="477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79" presetID="22" presetClass="entr" presetSubtype="0" fill="hold" grpId="0" nodeType="clickEffect">
                        <p:stCondLst>
                          <p:cond delay="1700"/>
                        </p:stCondLst>
                        <p:childTnLst>
                          <p:animEffect transition="in" filter="zoom">
                            <p:cBhvr>
                              <p:cTn id="480" dur="500" fill="hold"/>
                              <p:tgtEl>
                                <p:spTgt spid="479"/>
                              </p:tgtEl>
                            </p:cBhvr>
                          </p:animEffect>
                        </p:childTnLst>
                      </p:cTn>
                    </p:par>
                    <p:par>
                      <p:cTn id="481" presetID="10" presetClass="entr" presetSubtype="0" fill="hold" grpId="0" nodeType="clickEffect">
                        <p:stCondLst>
                          <p:cond delay="0"/>
                        </p:stCondLst>
                        <p:childTnLst>
                          <p:animEffect transition="in" filter="fade">
                            <p:cBhvr>
                              <p:cTn id="482" dur="700" fill="hold"/>
                              <p:tgtEl>
                                <p:spTgt spid="481"/>
                              </p:tgtEl>
                            </p:cBhvr>
                          </p:animEffect>
                        </p:childTnLst>
                      </p:cTn>
                    </p:par>
                  </p:childTnLst>
                </p:cTn>
                <p:prevCondLst>
                  <p:cond evt="onPrevClick" delay="0">
                    <p:tgtEl>
                      <p:sldTgt/>
                    </p:tgtEl>
                  </p:cond>
                </p:prevCondLst>
                <p:nextCondLst>
                  <p:cond evt="onNextClick" delay="0">
                    <p:tgtEl>
                      <p:sldTgt/>
                    </p:tgtEl>
                  </p:cond>
                </p:nextCondLst>
              </p:seq>
            </p:childTnLst>
          </p:cTn>
        </p:par>
      </p:tnLst>
    </p:timing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